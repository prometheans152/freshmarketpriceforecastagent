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第1頁｜封面</a:t>
            </a:r>
          </a:p>
          <a:p/>
          <a:p>
            <a:r>
              <a:t>我們的題目是現場菜價七天與十四天預測。使用者在市場看到單品報價，提供今天價格，就能查固定期限的估計；上週同店價可以選填。這次報告包含提案與公開資料的初步結果，同店預測效果仍待驗證。</a:t>
            </a:r>
          </a:p>
          <a:p/>
          <a:p>
            <a:r>
              <a:t>補充／證據邊界</a:t>
            </a:r>
          </a:p>
          <a:p>
            <a:r>
              <a:t>本次改寫只調整論述與呈現，不更換研究題目、模型或資料。</a:t>
            </a:r>
          </a:p>
          <a:p/>
          <a:p>
            <a:r>
              <a:t>來源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>
            <a:r>
              <a:t>[STYLE] 本版參考：LSTM澆水第4/14/22頁的簡圖與實物展示；蜜蜂健康第5–14頁的背景/動機/前作論述；GUARD節錄第4/5張的總覽與局部解釋；Team17第7–10頁的資料與結果安排。不複製他組數據、圖片、成果或新功能。</a:t>
            </a:r>
          </a:p>
          <a:p/>
          <a:p>
            <a:r>
              <a:t>預估講解時間：25秒（非實測配音長度）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第2頁｜研究動機</a:t>
            </a:r>
          </a:p>
          <a:p/>
          <a:p>
            <a:r>
              <a:t>想像你站在蔬果行，看見甘藍一台斤三十二元。這只是一個今天的價格，還沒有回答一兩週後的變化。右圖用本案歷史資料說明問題確實存在：七天有百分之十點五、十四天有百分之十六點六的配對，變化超過正負百分之五。不過這是歷史市場配對比例，不能當成這家店未來漲跌的機率。因此本案先測公共資料，再把同店效果另列驗證問題。</a:t>
            </a:r>
          </a:p>
          <a:p/>
          <a:p>
            <a:r>
              <a:t>補充／證據邊界</a:t>
            </a:r>
          </a:p>
          <a:p>
            <a:r>
              <a:t>母體含不同split的市場×品項×起算日×期限配對，並非獨立天數。7天n=10952、14天n=10680；方向按正式標籤含eps容差。</a:t>
            </a:r>
          </a:p>
          <a:p/>
          <a:p>
            <a:r>
              <a:t>來源</a:t>
            </a:r>
          </a:p>
          <a:p>
            <a:r>
              <a:t>[D1] 臺中市政府公有零售市場每日蔬果價格表，data.gov.tw資料集84539；https://data.gov.tw/dataset/84539 。使用既有2026-10-03快照，不重新下載。</a:t>
            </a:r>
          </a:p>
          <a:p>
            <a:r>
              <a:t>[D2] outputs/proposal_delivery/run3_20261004_01/stats_master.json: descriptive；data/processed/features_labels.parquet的既存direction。含各時間區的歷史市場×品項×起算日配對；排除insufficient_data，正式±5%邊界含eps=1e-9。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/>
          <a:p>
            <a:r>
              <a:t>預估講解時間：40秒（非實測配音長度）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第3頁｜相關研究：預測與私人資訊</a:t>
            </a:r>
          </a:p>
          <a:p/>
          <a:p>
            <a:r>
              <a:t>我們不是第一個研究菜價的人。陳泯宏比較多種批發價格預測模型；李岱鑫研究加入中盤商私人紀錄是否有價值；同課程Team十七則結合市場和氣象資料，展示未來五天價格。這些都是可比較的前作。本案把問題縮到消費者當下的單店報價、固定七天與十四天，以及如何取得同店到期價格來驗證。期限與輸入不同，不代表本案已經更好。</a:t>
            </a:r>
          </a:p>
          <a:p/>
          <a:p>
            <a:r>
              <a:t>補充／證據邊界</a:t>
            </a:r>
          </a:p>
          <a:p>
            <a:r>
              <a:t>R01/R02僅依既有摘要查核；R02確切誤差指標仍未知。H17為作者15頁簡報，未重跑其模型；不跨資料比較分數，未載明的功能不等於不存在。</a:t>
            </a:r>
          </a:p>
          <a:p/>
          <a:p>
            <a:r>
              <a:t>來源</a:t>
            </a:r>
          </a:p>
          <a:p>
            <a:r>
              <a:t>[R01] 陳泯宏（2024），《國產大宗蔬菜價格預測模型之比較》，臺灣大學統計碩士學位學程。DOI 10.6342/NTU202400875；https://tdr.lib.ntu.edu.tw/handle/123456789/92775 。沿用既有摘要查核，未讀全文。</a:t>
            </a:r>
          </a:p>
          <a:p>
            <a:r>
              <a:t>[R02] 李岱鑫（2015），《高雄果菜運銷公司高麗菜批發價格預測之研究—蒐集私有資料的價值》，清華大學。https://etd.lib.nycu.edu.tw/cgi-bin/gs32/hugsweb.cgi?o=dnthucdr&amp;s=id%3D%22GH02102077503%22.&amp;searchmode=basic 。沿用書目與摘要查核；實際評估指標仍UNKNOWN。</a:t>
            </a:r>
          </a:p>
          <a:p>
            <a:r>
              <a:t>[H17] 同課程Team17，《蔬果價格預測：LightGBM的最佳採購指南》（2025），本機歷屆/AIoT_歷屆期末簡報/regular_ii/Team17_蔬果價格預測_LightGBM採購指南.pdf，第7–12頁；原頁 https://app.notion.com/p/Team-17-2d3c4752981180e7985ed1361620f46a 。只依作者簡報，不是已獨立重現的研究結果。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/>
          <a:p>
            <a:r>
              <a:t>預估講解時間：40秒（非實測配音長度）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第4頁｜相關服務與本案缺口</a:t>
            </a:r>
          </a:p>
          <a:p/>
          <a:p>
            <a:r>
              <a:t>產品端也有前作。白菜即時有趨勢預測與零售換算文案，農產分析已讓人輸入購買價比對當日行情。所以不能說既有工具全部只看今天，或都不能輸入價格。本案要做的是固定期限的估計，並設計同一店家到期價的驗證方式。公開市場測試已經有結果，但這個結果還不能證明某家店的A或B估計比較準。</a:t>
            </a:r>
          </a:p>
          <a:p/>
          <a:p>
            <a:r>
              <a:t>補充／證據邊界</a:t>
            </a:r>
          </a:p>
          <a:p>
            <a:r>
              <a:t>不對兩項產品未公開或未讀到的其他能力做否定。此頁描述本案提案，不宣稱全球首次。</a:t>
            </a:r>
          </a:p>
          <a:p/>
          <a:p>
            <a:r>
              <a:t>來源</a:t>
            </a:r>
          </a:p>
          <a:p>
            <a:r>
              <a:t>[R05] flux6lab，白菜即時官方頁 https://cabbagelive.com/ 。沿用已讀產品文案：趨勢預測／零售換算。未安裝實測，不把文案當成效果證據，未載明功能保持未知。</a:t>
            </a:r>
          </a:p>
          <a:p>
            <a:r>
              <a:t>[R06] 鹿中創客，農產分析Google Play頁 https://play.google.com/store/apps/details?id=com.bvc_dev_team.androidapp&amp;hl=zh-TW 。沿用已讀文案：輸入購買價、換算及當日行情比對；未安裝實測，其餘功能不作不存在的斷言。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/>
          <a:p>
            <a:r>
              <a:t>預估講解時間：35秒（非實測配音長度）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第5頁｜研究問題與三項亮點</a:t>
            </a:r>
          </a:p>
          <a:p/>
          <a:p>
            <a:r>
              <a:t>這三項亮點各自對應一個問題。第一，固定七天與十四天時，模型相較不變價和動量表現如何。第二，使用者多提供一筆可比較的上週同店價格，是否有實際幫助。第三，結果能不能讓人看懂期限、來源與限制。第一項已有公開資料的測試；第二項等真店到期驗證；第三項有原型，但使用者理解與輸入負擔還沒有實測。</a:t>
            </a:r>
          </a:p>
          <a:p/>
          <a:p>
            <a:r>
              <a:t>補充／證據邊界</a:t>
            </a:r>
          </a:p>
          <a:p>
            <a:r>
              <a:t>不把C1已有結果當成原創性或全面泛化已證實，也不把C3原型當成完整保存重播驗收。</a:t>
            </a:r>
          </a:p>
          <a:p/>
          <a:p>
            <a:r>
              <a:t>來源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>
            <a:r>
              <a:t>[E1] outputs/evaluation/public/public_test_results.json: horizons.h=7 / horizons.h=14；SHA256 2d28acd2f2c3e5ce566b9095c6a85477db8faf858d9ce29e974caaedc25674b8。固定測試列，未重算模型輸出、未重訓。</a:t>
            </a:r>
          </a:p>
          <a:p/>
          <a:p>
            <a:r>
              <a:t>預估講解時間：35秒（非實測配音長度）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第6頁｜系統架構</a:t>
            </a:r>
          </a:p>
          <a:p/>
          <a:p>
            <a:r>
              <a:t>請按編號看這張圖。第一，使用者提供品項和現場報價。第二，查詢層確認日期、單位及上週資訊是否可比較，再呼叫第三個菜價計算工具。計算工具讀取第四個公開歷史資料，產生七天和十四天估計，結果經查詢層回到手機。只有使用者選擇保存，才把當時結果寫入第五個預測紀錄。公開資料與私人紀錄是分開的。現在講的是本機原型，語言模型後端和外網服務仍是後續整合。</a:t>
            </a:r>
          </a:p>
          <a:p/>
          <a:p>
            <a:r>
              <a:t>補充／證據邊界</a:t>
            </a:r>
          </a:p>
          <a:p>
            <a:r>
              <a:t>①→②提交、②→③計算、③→④讀取、③→②→①回傳；②与⑤保存/查閱，④⑤無直接寫入。GLM/Qwen是語言模型後端；Hermes是暫定流程框架；ForecastEngine才計算菜價。本次不驗收或修復既有agent缺陷。</a:t>
            </a:r>
          </a:p>
          <a:p/>
          <a:p>
            <a:r>
              <a:t>來源</a:t>
            </a:r>
          </a:p>
          <a:p>
            <a:r>
              <a:t>[A1] src/aiot_price/api/app.py: /forecast, /agent/query, /records；src/aiot_price/models/predict.py: ForecastEngine；src/aiot_price/api/prediction_records.py: private/predictions。依既有原型整理的功能關係圖，不是完整系統驗收宣稱。</a:t>
            </a:r>
          </a:p>
          <a:p>
            <a:r>
              <a:t>[M2] src/aiot_price/models/store_adapter.py: ALPHA_EXPERIMENTAL=0.3；docs/STORE_DATA_PROTOCOL.md；docs/PROPOSAL_REPORT.md。A為乘法錨定；B為固定規則，不是學得的增益。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/>
          <a:p>
            <a:r>
              <a:t>預估講解時間：45秒（非實測配音長度）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第7頁｜資料來源與整理</a:t>
            </a:r>
          </a:p>
          <a:p/>
          <a:p>
            <a:r>
              <a:t>本案使用臺中市公有零售市場的每日訪價均價，期間約一年，排除停用市場後共十三個市場。第一版先做甘藍、青江白菜與絲瓜。單位是元每台斤，欄位中的零表示沒有報價，所以不能直接當成零元拿去訓練。整理後依同市場、同品項、同日期配對，建立未來七天和十四天的目標。這裡沒有單店識別，因此公開測試和單店效果必須分開解釋。</a:t>
            </a:r>
          </a:p>
          <a:p/>
          <a:p>
            <a:r>
              <a:t>補充／證據邊界</a:t>
            </a:r>
          </a:p>
          <a:p>
            <a:r>
              <a:t>原始4450列×63欄；原三品項長表13350列，0值905格轉缺值。13市場中甘藍有效配對涵蓋12市場。364是原檔不同日期數，不表示每市場每日無缺。</a:t>
            </a:r>
          </a:p>
          <a:p/>
          <a:p>
            <a:r>
              <a:t>來源</a:t>
            </a:r>
          </a:p>
          <a:p>
            <a:r>
              <a:t>[D1] 臺中市政府公有零售市場每日蔬果價格表，data.gov.tw資料集84539；https://data.gov.tw/dataset/84539 。使用既有2026-10-03快照，不重新下載。</a:t>
            </a:r>
          </a:p>
          <a:p>
            <a:r>
              <a:t>[D2] outputs/proposal_delivery/run3_20261004_01/stats_master.json: descriptive；data/processed/features_labels.parquet的既存direction。含各時間區的歷史市場×品項×起算日配對；排除insufficient_data，正式±5%邊界含eps=1e-9。</a:t>
            </a:r>
          </a:p>
          <a:p/>
          <a:p>
            <a:r>
              <a:t>預估講解時間：35秒（非實測配音長度）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第8頁｜預測目標與漲跌定義</a:t>
            </a:r>
          </a:p>
          <a:p/>
          <a:p>
            <a:r>
              <a:t>我們不預測模糊的下週平均，而是從本次可信報價日算起，精確七天與十四個日曆日。相對變化就是到期價格減去當日價格，再除以當日價格。超過正負百分之五才算上漲或下跌，剛好落在百分之五仍屬持平。像四十元變四十三元，是上漲百分之七點五；變四十二元剛好百分之五，仍屬持平。公開資料用市場均價建標籤，同店驗證則要用同店到期價。</a:t>
            </a:r>
          </a:p>
          <a:p/>
          <a:p>
            <a:r>
              <a:t>補充／證據邊界</a:t>
            </a:r>
          </a:p>
          <a:p>
            <a:r>
              <a:t>正式分類用eps=1e-9處理浮點邊界。t不是公開行情最後日期，也不改成交易日。公開標籤m(t+h)/m(t)-1；同店真值另收，不以市場值代填。</a:t>
            </a:r>
          </a:p>
          <a:p/>
          <a:p>
            <a:r>
              <a:t>來源</a:t>
            </a:r>
          </a:p>
          <a:p>
            <a:r>
              <a:t>[M1] docs/LABEL_CONTRACT.md；src/aiot_price/data/labels.py；docs/PROPOSAL_REPORT.md。h=7/14個日曆日；t為本次可信報價基準日；缺到期正價格者無標籤。</a:t>
            </a:r>
          </a:p>
          <a:p/>
          <a:p>
            <a:r>
              <a:t>預估講解時間：40秒（非實測配音長度）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第9頁｜A模式</a:t>
            </a:r>
          </a:p>
          <a:p/>
          <a:p>
            <a:r>
              <a:t>A模式不需要上週的紀錄。假設今天店價是三十二元，模型估計七天相對變化為負百分之四點一，我們把三十二乘以零點九五九，得到三十點六八八元，顯示約三十點七元。雖然金額下降，但還在正負百分之五內，所以分類是持平。下方十四天也是同樣算法。這些都是教學假設，不是本次查詢的真模型輸出。現價錨定只改顯示金額，並不能證明方向變得更準。</a:t>
            </a:r>
          </a:p>
          <a:p/>
          <a:p>
            <a:r>
              <a:t>補充／證據邊界</a:t>
            </a:r>
          </a:p>
          <a:p>
            <a:r>
              <a:t>A公式p_hat=p*(1+r_hat)。p&gt;0時，[p(1+r_hat)-p]/p=r_hat；同一分類器方向不變。14天32*0.991=31.712≈31.7；負號不等同down。</a:t>
            </a:r>
          </a:p>
          <a:p/>
          <a:p>
            <a:r>
              <a:t>來源</a:t>
            </a:r>
          </a:p>
          <a:p>
            <a:r>
              <a:t>[M2] src/aiot_price/models/store_adapter.py: ALPHA_EXPERIMENTAL=0.3；docs/STORE_DATA_PROTOCOL.md；docs/PROPOSAL_REPORT.md。A為乘法錨定；B為固定規則，不是學得的增益。</a:t>
            </a:r>
          </a:p>
          <a:p>
            <a:r>
              <a:t>[M1] docs/LABEL_CONTRACT.md；src/aiot_price/data/labels.py；docs/PROPOSAL_REPORT.md。h=7/14個日曆日；t為本次可信報價基準日；缺到期正價格者無標籤。</a:t>
            </a:r>
          </a:p>
          <a:p/>
          <a:p>
            <a:r>
              <a:t>預估講解時間：45秒（非實測配音長度）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第10頁｜B模式</a:t>
            </a:r>
          </a:p>
          <a:p/>
          <a:p>
            <a:r>
              <a:t>有可比較的上週同店價時，才使用B。這個例子假設今天三十二元、上週二十八元，店價一週變化約百分之十四點二九；公開同期假設是百分之一。B把兩者的差乘以零點三，加回A的負百分之四點一，得到約負百分之零點一一，仍屬持平。請注意，零點三只是固定實驗規則，不是從同店資料學來的效果。B能不能更好，要把同一批有上週價的個案，同時保留A和B，再等到期真值比較。</a:t>
            </a:r>
          </a:p>
          <a:p/>
          <a:p>
            <a:r>
              <a:t>補充／證據邊界</a:t>
            </a:r>
          </a:p>
          <a:p>
            <a:r>
              <a:t>r_B=r_A+0.3*(Delta_store-Delta_pub)；本例未四捨五入r_B≈-0.001142857。上週可比日期7±2天，同店/品項/規格，單位需轉同尺度；缺少或不可比則僅A，不用0或公開t-7冒充私人資料。</a:t>
            </a:r>
          </a:p>
          <a:p/>
          <a:p>
            <a:r>
              <a:t>來源</a:t>
            </a:r>
          </a:p>
          <a:p>
            <a:r>
              <a:t>[M2] src/aiot_price/models/store_adapter.py: ALPHA_EXPERIMENTAL=0.3；docs/STORE_DATA_PROTOCOL.md；docs/PROPOSAL_REPORT.md。A為乘法錨定；B為固定規則，不是學得的增益。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/>
          <a:p>
            <a:r>
              <a:t>預估講解時間：45秒（非實測配音長度）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第11頁｜模型選擇與評估設計</a:t>
            </a:r>
          </a:p>
          <a:p/>
          <a:p>
            <a:r>
              <a:t>評估的先後順序很重要。我們先用較早資料訓練，再用驗證集的macro-F1選模型，最後才看保留的測試資料。七天選到隨機森林，十四天選到梯度提升。模型輸入是十二個數值特徵，再加品項編碼，不是另外訓練一個消費者語言模型。圖上是保留樣本的日期範圍，邊界上如果到期價格在下一段才知道，就要清除相關樣本。資料延遲目前保守假設一天，細節放在附錄。</a:t>
            </a:r>
          </a:p>
          <a:p/>
          <a:p>
            <a:r>
              <a:t>補充／證據邊界</a:t>
            </a:r>
          </a:p>
          <a:p>
            <a:r>
              <a:t>同日起算觀測不隨機分到不同時間區；依h分別清除。時間圖不是所有日期所有期限皆保留的宣稱。測試n(h7)=2085、n(h14)=1859；其他有效標籤未必符合特徵和測試範圍。</a:t>
            </a:r>
          </a:p>
          <a:p/>
          <a:p>
            <a:r>
              <a:t>來源</a:t>
            </a:r>
          </a:p>
          <a:p>
            <a:r>
              <a:t>[M3] outputs/training/training_results.json；models/releases/0.1.0/manifest.json；src/aiot_price/models/train.py。候選Ridge、RFRegressor、HGBRegressor、DummyMajority、HGBClassifier；12個數值特徵＋crop_id one-hot，無市場one-hot。</a:t>
            </a:r>
          </a:p>
          <a:p>
            <a:r>
              <a:t>[S1] outputs/proposal_delivery/run3_20261004_01/stats_master.json: splits, purge.segments；outputs/splits/split_list.csv。成熟日=t+h+1。图示日期为保留樣本涵蓋期，不表示每一天每個期限都保留。</a:t>
            </a:r>
          </a:p>
          <a:p/>
          <a:p>
            <a:r>
              <a:t>預估講解時間：40秒（非實測配音長度）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第12頁｜方向結果</a:t>
            </a:r>
          </a:p>
          <a:p/>
          <a:p>
            <a:r>
              <a:t>這張表用同一批封存測試列比較三種方法。不變價永遠預測持平；動量延續過去同長度的變化；最後一列是本案選定模型。七天模型約零點四二一八，十四天約零點四一六九，都高於全部持平，但都沒有超過動量。這表示不能只報告比全持平好，就說模型已經成功。這裡也沒有做顯著性檢定，不能把小數差異說成統計上顯著勝出。</a:t>
            </a:r>
          </a:p>
          <a:p/>
          <a:p>
            <a:r>
              <a:t>補充／證據邊界</a:t>
            </a:r>
          </a:p>
          <a:p>
            <a:r>
              <a:t>macro-F1是各類別F1非加權平均，不是準確率百分比，也不等同個店效果。RF/HGB不是LLM猜價。表格直接讀封存JSON。</a:t>
            </a:r>
          </a:p>
          <a:p/>
          <a:p>
            <a:r>
              <a:t>來源</a:t>
            </a:r>
          </a:p>
          <a:p>
            <a:r>
              <a:t>[E1] outputs/evaluation/public/public_test_results.json: horizons.h=7 / horizons.h=14；SHA256 2d28acd2f2c3e5ce566b9095c6a85477db8faf858d9ce29e974caaedc25674b8。固定測試列，未重算模型輸出、未重訓。</a:t>
            </a:r>
          </a:p>
          <a:p/>
          <a:p>
            <a:r>
              <a:t>預估講解時間：45秒（非實測配音長度）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第13頁｜誤差與上漲召回</a:t>
            </a:r>
          </a:p>
          <a:p/>
          <a:p>
            <a:r>
              <a:t>除了方向，我們也比較相對變化的平均絕對誤差。這個指標越小越好，但七天與十四天的模型誤差都比不變價高。再看上漲事件，七天實際有一百五十八筆上漲，模型只抓到十六筆，召回約百分之十點一。所以目前還不能把結果當成可靠的上漲警報，更不能保證依預測採買就省錢。這些負向結果會限制產品用途，也決定後續要驗證什麼。</a:t>
            </a:r>
          </a:p>
          <a:p/>
          <a:p>
            <a:r>
              <a:t>補充／證據邊界</a:t>
            </a:r>
          </a:p>
          <a:p>
            <a:r>
              <a:t>h14上漲召回23/268≈8.6%。MAE為相對變化誤差，0.0664約6.64個百分點的變化量誤差，不等於價格百分比誤差或命中率。</a:t>
            </a:r>
          </a:p>
          <a:p/>
          <a:p>
            <a:r>
              <a:t>來源</a:t>
            </a:r>
          </a:p>
          <a:p>
            <a:r>
              <a:t>[E1] outputs/evaluation/public/public_test_results.json: horizons.h=7 / horizons.h=14；SHA256 2d28acd2f2c3e5ce566b9095c6a85477db8faf858d9ce29e974caaedc25674b8。固定測試列，未重算模型輸出、未重訓。</a:t>
            </a:r>
          </a:p>
          <a:p/>
          <a:p>
            <a:r>
              <a:t>預估講解時間：40秒（非實測配音長度）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第14頁｜介面示例</a:t>
            </a:r>
          </a:p>
          <a:p/>
          <a:p>
            <a:r>
              <a:t>這是既有本機原型的歷史截圖，不是今天重新查詢的結果。為了讓字能看清楚，這頁放大上方七天的A與B。讀畫面時先看期限，再看使用或不使用上週資訊的差異，最後看來源與實驗性提醒。畫面中的B與前面教學例數值不同，因為這張圖來自另一個歷史查詢，不能混成同一筆個案。現在可以展示介面，但完整保存重播、語言模型後端及外網服務仍未完成驗收。</a:t>
            </a:r>
          </a:p>
          <a:p/>
          <a:p>
            <a:r>
              <a:t>補充／證據邊界</a:t>
            </a:r>
          </a:p>
          <a:p>
            <a:r>
              <a:t>圖片只裁切放大7天比較；原圖390×844保留原位，不改數值或日期。截圖不證明自然語言後端、保存或即時服務已驗收。</a:t>
            </a:r>
          </a:p>
          <a:p/>
          <a:p>
            <a:r>
              <a:t>來源</a:t>
            </a:r>
          </a:p>
          <a:p>
            <a:r>
              <a:t>[U1] outputs/e2e/ui_ab_mobile_390x844.png，2026-10-03本機原型截圖。本版只裁出上方7天A/B結果區並明示裁切，未改內部數字、未偽造新查詢。</a:t>
            </a:r>
          </a:p>
          <a:p>
            <a:r>
              <a:t>[A1] src/aiot_price/api/app.py: /forecast, /agent/query, /records；src/aiot_price/models/predict.py: ForecastEngine；src/aiot_price/api/prediction_records.py: private/predictions。依既有原型整理的功能關係圖，不是完整系統驗收宣稱。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/>
          <a:p>
            <a:r>
              <a:t>預估講解時間：40秒（非實測配音長度）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第15頁｜後續驗證</a:t>
            </a:r>
          </a:p>
          <a:p/>
          <a:p>
            <a:r>
              <a:t>後續驗證不只再訓練一次。第一，保存同一筆查詢的A與B，等到七天、十四天取得同店同規格真價，才比較輸入資訊的增益。第二，觀察使用者是否能順利輸入，並正確理解資料範圍。第三，後端與外網服務另做端到端驗證。這三類證據不能互相代替。設計藍圖與OpenSpec管理保留在專案中，目前日期還沒排定，這次也不啟動暫緩的整合工作。</a:t>
            </a:r>
          </a:p>
          <a:p/>
          <a:p>
            <a:r>
              <a:t>補充／證據邊界</a:t>
            </a:r>
          </a:p>
          <a:p>
            <a:r>
              <a:t>同筆A/B配對，先凍結再取到期真值；不用公開t-7或均價代替私人到期資料。影片和發布獨立追蹤，本次不發布。</a:t>
            </a:r>
          </a:p>
          <a:p/>
          <a:p>
            <a:r>
              <a:t>來源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>
            <a:r>
              <a:t>[C1] 會議錄音 10.txt:535–573、787–899、1738–1764、2080–2097；教授L4-1 https://app.notion.com/p/AIoT-DA-L4-1-Proposal-1-3ebc4752981180d8842fd7e253962c4e 。沿用已讀正文與逐字稿；A–Z為內容對照，不是全部需放主畫面的逐字標題。</a:t>
            </a:r>
          </a:p>
          <a:p>
            <a:r>
              <a:t>[M2] src/aiot_price/models/store_adapter.py: ALPHA_EXPERIMENTAL=0.3；docs/STORE_DATA_PROTOCOL.md；docs/PROPOSAL_REPORT.md。A為乘法錨定；B為固定規則，不是學得的增益。</a:t>
            </a:r>
          </a:p>
          <a:p/>
          <a:p>
            <a:r>
              <a:t>預估講解時間：35秒（非實測配音長度）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 第16頁｜結論</a:t>
            </a:r>
          </a:p>
          <a:p/>
          <a:p>
            <a:r>
              <a:t>總結來說，我們把現場報價連到固定七天與十四天的預測任務，完成公開市場評估與A/B原型。已有結果也清楚顯示限制：方向未超過動量，金額誤差未超過不變價，同店效果還沒有證據。下一步不是先保證更準，而是取得同店到期真值，回答多一筆上週價格到底有沒有幫助。謝謝，後面的附錄備有計算與資料供提問。</a:t>
            </a:r>
          </a:p>
          <a:p/>
          <a:p>
            <a:r>
              <a:t>補充／證據邊界</a:t>
            </a:r>
          </a:p>
          <a:p>
            <a:r>
              <a:t>本次為作者重寫與自查，非另一次獨立研究驗收；不更換題目或模型。</a:t>
            </a:r>
          </a:p>
          <a:p/>
          <a:p>
            <a:r>
              <a:t>來源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>
            <a:r>
              <a:t>[E1] outputs/evaluation/public/public_test_results.json: horizons.h=7 / horizons.h=14；SHA256 2d28acd2f2c3e5ce566b9095c6a85477db8faf858d9ce29e974caaedc25674b8。固定測試列，未重算模型輸出、未重訓。</a:t>
            </a:r>
          </a:p>
          <a:p/>
          <a:p>
            <a:r>
              <a:t>預估講解時間：30秒（非實測配音長度）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第17頁｜附錄A 資料與成熟清除</a:t>
            </a:r>
          </a:p>
          <a:p/>
          <a:p>
            <a:r>
              <a:t>此表回答成熟清除的日期與母體。7天對應t+8、14天對應t+15，分別清除跨越下一區界的標籤。不把總體起算日期範圍當成所有期限共用同一清除帶。</a:t>
            </a:r>
          </a:p>
          <a:p/>
          <a:p>
            <a:r>
              <a:t>補充／證據邊界</a:t>
            </a:r>
          </a:p>
          <a:p>
            <a:r>
              <a:t>資料品質：原3品項0值905格，整份原始不同日期364；全61價格欄零值比例與前三品項905不同母體。21筆邊界來自直接abs(r)&gt;0.05與正式eps方向口徑差異，不改labels。</a:t>
            </a:r>
          </a:p>
          <a:p/>
          <a:p>
            <a:r>
              <a:t>來源</a:t>
            </a:r>
          </a:p>
          <a:p>
            <a:r>
              <a:t>[D1] 臺中市政府公有零售市場每日蔬果價格表，data.gov.tw資料集84539；https://data.gov.tw/dataset/84539 。使用既有2026-10-03快照，不重新下載。</a:t>
            </a:r>
          </a:p>
          <a:p>
            <a:r>
              <a:t>[D2] outputs/proposal_delivery/run3_20261004_01/stats_master.json: descriptive；data/processed/features_labels.parquet的既存direction。含各時間區的歷史市場×品項×起算日配對；排除insufficient_data，正式±5%邊界含eps=1e-9。</a:t>
            </a:r>
          </a:p>
          <a:p>
            <a:r>
              <a:t>[S1] outputs/proposal_delivery/run3_20261004_01/stats_master.json: splits, purge.segments；outputs/splits/split_list.csv。成熟日=t+h+1。图示日期为保留樣本涵蓋期，不表示每一天每個期限都保留。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第18頁｜附錄B 公式</a:t>
            </a:r>
          </a:p>
          <a:p/>
          <a:p>
            <a:r>
              <a:t>A的方向不變是代數性質，不是準確率實驗。B加上差動量後可以改變相對變化，但是否更接近真店到期價仍要驗證。</a:t>
            </a:r>
          </a:p>
          <a:p/>
          <a:p>
            <a:r>
              <a:t>補充／證據邊界</a:t>
            </a:r>
          </a:p>
          <a:p>
            <a:r>
              <a:t>7±2天是目前可比上週資訊的日期契約；單位先轉同尺度。方法設計不代表每一產品入口校驗均已通過驗收。</a:t>
            </a:r>
          </a:p>
          <a:p/>
          <a:p>
            <a:r>
              <a:t>來源</a:t>
            </a:r>
          </a:p>
          <a:p>
            <a:r>
              <a:t>[M1] docs/LABEL_CONTRACT.md；src/aiot_price/data/labels.py；docs/PROPOSAL_REPORT.md。h=7/14個日曆日；t為本次可信報價基準日；缺到期正價格者無標籤。</a:t>
            </a:r>
          </a:p>
          <a:p>
            <a:r>
              <a:t>[M2] src/aiot_price/models/store_adapter.py: ALPHA_EXPERIMENTAL=0.3；docs/STORE_DATA_PROTOCOL.md；docs/PROPOSAL_REPORT.md。A為乘法錨定；B為固定規則，不是學得的增益。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第19頁｜附錄C 分品項</a:t>
            </a:r>
          </a:p>
          <a:p/>
          <a:p>
            <a:r>
              <a:t>全部使用封存JSON by_crop，不跨資料排名。市場平均價表現不能當成任何一店的準確度。</a:t>
            </a:r>
          </a:p>
          <a:p/>
          <a:p>
            <a:r>
              <a:t>補充／證據邊界</a:t>
            </a:r>
          </a:p>
          <a:p>
            <a:r>
              <a:t>同品項時序與市場觀測可能相關，未做顯著性或成因檢定。</a:t>
            </a:r>
          </a:p>
          <a:p/>
          <a:p>
            <a:r>
              <a:t>來源</a:t>
            </a:r>
          </a:p>
          <a:p>
            <a:r>
              <a:t>[E2] outputs/evaluation/public/public_test_results.json: by_crop；同一封存測試的分品項描述。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第20頁｜附錄D 混淆矩陣</a:t>
            </a:r>
          </a:p>
          <a:p/>
          <a:p>
            <a:r>
              <a:t>實際上漲的一百五十八筆裡，十六筆預測上漲；其餘四十三筆預測下跌，九十九筆預測持平，合計漏報一百四十二筆。</a:t>
            </a:r>
          </a:p>
          <a:p/>
          <a:p>
            <a:r>
              <a:t>補充／證據邊界</a:t>
            </a:r>
          </a:p>
          <a:p>
            <a:r>
              <a:t>這是7天RF的既有封存測試，不是新訓練結果；類別順序依JSON down/flat/up。</a:t>
            </a:r>
          </a:p>
          <a:p/>
          <a:p>
            <a:r>
              <a:t>來源</a:t>
            </a:r>
          </a:p>
          <a:p>
            <a:r>
              <a:t>[E1] outputs/evaluation/public/public_test_results.json: horizons.h=7 / horizons.h=14；SHA256 2d28acd2f2c3e5ce566b9095c6a85477db8faf858d9ce29e974caaedc25674b8。固定測試列，未重算模型輸出、未重訓。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第21頁｜附錄E 引用</a:t>
            </a:r>
          </a:p>
          <a:p/>
          <a:p>
            <a:r>
              <a:t>前作只引用本案已讀證據支持的做法；摘要未載明功能不視為不存在。Team17為同課程作者簡報，不是本案重現的性能證據。</a:t>
            </a:r>
          </a:p>
          <a:p/>
          <a:p>
            <a:r>
              <a:t>補充／證據邊界</a:t>
            </a:r>
          </a:p>
          <a:p>
            <a:r>
              <a:t>只借用歷屆資訊安排與論述方法，不複製他組圖片或實驗成果。所有本案分數依封存結果。</a:t>
            </a:r>
          </a:p>
          <a:p/>
          <a:p>
            <a:r>
              <a:t>來源</a:t>
            </a:r>
          </a:p>
          <a:p>
            <a:r>
              <a:t>[R01] 陳泯宏（2024），《國產大宗蔬菜價格預測模型之比較》，臺灣大學統計碩士學位學程。DOI 10.6342/NTU202400875；https://tdr.lib.ntu.edu.tw/handle/123456789/92775 。沿用既有摘要查核，未讀全文。</a:t>
            </a:r>
          </a:p>
          <a:p>
            <a:r>
              <a:t>[R02] 李岱鑫（2015），《高雄果菜運銷公司高麗菜批發價格預測之研究—蒐集私有資料的價值》，清華大學。https://etd.lib.nycu.edu.tw/cgi-bin/gs32/hugsweb.cgi?o=dnthucdr&amp;s=id%3D%22GH02102077503%22.&amp;searchmode=basic 。沿用書目與摘要查核；實際評估指標仍UNKNOWN。</a:t>
            </a:r>
          </a:p>
          <a:p>
            <a:r>
              <a:t>[H17] 同課程Team17，《蔬果價格預測：LightGBM的最佳採購指南》（2025），本機歷屆/AIoT_歷屆期末簡報/regular_ii/Team17_蔬果價格預測_LightGBM採購指南.pdf，第7–12頁；原頁 https://app.notion.com/p/Team-17-2d3c4752981180e7985ed1361620f46a 。只依作者簡報，不是已獨立重現的研究結果。</a:t>
            </a:r>
          </a:p>
          <a:p>
            <a:r>
              <a:t>[R05] flux6lab，白菜即時官方頁 https://cabbagelive.com/ 。沿用已讀產品文案：趨勢預測／零售換算。未安裝實測，不把文案當成效果證據，未載明功能保持未知。</a:t>
            </a:r>
          </a:p>
          <a:p>
            <a:r>
              <a:t>[R06] 鹿中創客，農產分析Google Play頁 https://play.google.com/store/apps/details?id=com.bvc_dev_team.androidapp&amp;hl=zh-TW 。沿用已讀文案：輸入購買價、換算及當日行情比對；未安裝實測，其餘功能不作不存在的斷言。</a:t>
            </a:r>
          </a:p>
          <a:p>
            <a:r>
              <a:t>[D1] 臺中市政府公有零售市場每日蔬果價格表，data.gov.tw資料集84539；https://data.gov.tw/dataset/84539 。使用既有2026-10-03快照，不重新下載。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 第22頁｜附錄F 實作與交付</a:t>
            </a:r>
          </a:p>
          <a:p/>
          <a:p>
            <a:r>
              <a:t>完整端點、檔名、來源hash及測試記錄保留在專案，主講只留理解研究所需資訊。本次重寫與自查不替代產品代理人的獨立驗收。</a:t>
            </a:r>
          </a:p>
          <a:p/>
          <a:p>
            <a:r>
              <a:t>補充／證據邊界</a:t>
            </a:r>
          </a:p>
          <a:p>
            <a:r>
              <a:t>不修改design.md等既有研究文件，也不宣稱前輪跨文件問題全面結案。新版PPT與講稿使用一致角色。影片只有兩頁試片，本次不擴製或上傳。</a:t>
            </a:r>
          </a:p>
          <a:p/>
          <a:p>
            <a:r>
              <a:t>來源</a:t>
            </a:r>
          </a:p>
          <a:p>
            <a:r>
              <a:t>[A1] src/aiot_price/api/app.py: /forecast, /agent/query, /records；src/aiot_price/models/predict.py: ForecastEngine；src/aiot_price/api/prediction_records.py: private/predictions。依既有原型整理的功能關係圖，不是完整系統驗收宣稱。</a:t>
            </a:r>
          </a:p>
          <a:p>
            <a:r>
              <a:t>[P1] docs/PROPOSAL_REPORT.md: RQ1–RQ3、C1–C3及後續工作；docs/CONTRIBUTIONS.md；TASKS.md。使用者2026-10-04指示產品代理人整合與SERVER暫緩。</a:t>
            </a:r>
          </a:p>
          <a:p>
            <a:r>
              <a:t>[C1] 會議錄音 10.txt:535–573、787–899、1738–1764、2080–2097；教授L4-1 https://app.notion.com/p/AIoT-DA-L4-1-Proposal-1-3ebc4752981180d8842fd7e253962c4e 。沿用已讀正文與逐字稿；A–Z為內容對照，不是全部需放主畫面的逐字標題。</a:t>
            </a:r>
          </a:p>
          <a:p>
            <a:r>
              <a:t>[STYLE] 本版參考：LSTM澆水第4/14/22頁的簡圖與實物展示；蜜蜂健康第5–14頁的背景/動機/前作論述；GUARD節錄第4/5張的總覽與局部解釋；Team17第7–10頁的資料與結果安排。不複製他組數據、圖片、成果或新功能。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研究提案與初步成果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TW01｜簡潔研究版 v4｜版本日期 2026-10-04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801368"/>
            <a:ext cx="0" cy="3291840"/>
          </a:xfrm>
          <a:prstGeom prst="line">
            <a:avLst/>
          </a:prstGeom>
          <a:ln w="381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8408" y="1938528"/>
            <a:ext cx="10378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3600" b="1">
                <a:solidFill>
                  <a:srgbClr val="222B33"/>
                </a:solidFill>
                <a:latin typeface="Microsoft JhengHei"/>
                <a:ea typeface="Microsoft JhengHei"/>
              </a:rPr>
              <a:t>現場菜價7／14天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3600" b="1">
                <a:solidFill>
                  <a:srgbClr val="222B33"/>
                </a:solidFill>
                <a:latin typeface="Microsoft JhengHei"/>
                <a:ea typeface="Microsoft JhengHei"/>
              </a:rPr>
              <a:t>預測與分析代理人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6"/>
            <a:ext cx="9784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rgbClr val="606B74"/>
                </a:solidFill>
                <a:latin typeface="Microsoft JhengHei"/>
                <a:ea typeface="Microsoft JhengHei"/>
              </a:rPr>
              <a:t>今天看見的單品價格，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0">
                <a:solidFill>
                  <a:srgbClr val="606B74"/>
                </a:solidFill>
                <a:latin typeface="Microsoft JhengHei"/>
                <a:ea typeface="Microsoft JhengHei"/>
              </a:rPr>
              <a:t>如何連到一、兩週後的變化？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9784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400" b="0">
                <a:solidFill>
                  <a:srgbClr val="606B74"/>
                </a:solidFill>
                <a:latin typeface="Microsoft JhengHei"/>
                <a:ea typeface="Microsoft JhengHei"/>
              </a:rPr>
              <a:t>AIoT 應用與資料分析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400" b="0">
                <a:solidFill>
                  <a:srgbClr val="606B74"/>
                </a:solidFill>
                <a:latin typeface="Microsoft JhengHei"/>
                <a:ea typeface="Microsoft JhengHei"/>
              </a:rPr>
              <a:t>組員／組長、正式發表日期：待填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研究動機：今天的標價，還不足以回答未來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[D1–D2] 臺中公開市場歷史資料；比例是歷史配對描述，不是未來機率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使用情境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4663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3000" b="1">
                <a:solidFill>
                  <a:srgbClr val="222B33"/>
                </a:solidFill>
                <a:latin typeface="Microsoft JhengHei"/>
                <a:ea typeface="Microsoft JhengHei"/>
              </a:rPr>
              <a:t>甘藍 32元／台斤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91256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0">
                <a:solidFill>
                  <a:srgbClr val="222B33"/>
                </a:solidFill>
                <a:latin typeface="Microsoft JhengHei"/>
                <a:ea typeface="Microsoft JhengHei"/>
              </a:rPr>
              <a:t>消費者想知道：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0">
                <a:solidFill>
                  <a:srgbClr val="222B33"/>
                </a:solidFill>
                <a:latin typeface="Microsoft JhengHei"/>
                <a:ea typeface="Microsoft JhengHei"/>
              </a:rPr>
              <a:t>7天、14天後，會漲、平或跌？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606B74"/>
                </a:solidFill>
                <a:latin typeface="Microsoft JhengHei"/>
                <a:ea typeface="Microsoft JhengHei"/>
              </a:rPr>
              <a:t>32元為情境示意；不是本次實際報價。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1783080"/>
            <a:ext cx="53035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222B33"/>
                </a:solidFill>
                <a:latin typeface="Microsoft JhengHei"/>
                <a:ea typeface="Microsoft JhengHei"/>
              </a:rPr>
              <a:t>歷史樣本中，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222B33"/>
                </a:solidFill>
                <a:latin typeface="Microsoft JhengHei"/>
                <a:ea typeface="Microsoft JhengHei"/>
              </a:rPr>
              <a:t>超過±5%變動的配對比例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2825496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222B33"/>
                </a:solidFill>
                <a:latin typeface="Microsoft JhengHei"/>
                <a:ea typeface="Microsoft JhengHei"/>
              </a:rPr>
              <a:t>7天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788920"/>
            <a:ext cx="1582875" cy="347472"/>
          </a:xfrm>
          <a:prstGeom prst="rect">
            <a:avLst/>
          </a:prstGeom>
          <a:solidFill>
            <a:srgbClr val="315A70"/>
          </a:solidFill>
          <a:ln w="12700">
            <a:solidFill>
              <a:srgbClr val="31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3483" y="2770632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1">
                <a:solidFill>
                  <a:srgbClr val="315A70"/>
                </a:solidFill>
                <a:latin typeface="Microsoft JhengHei"/>
                <a:ea typeface="Microsoft JhengHei"/>
              </a:rPr>
              <a:t>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218687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606B74"/>
                </a:solidFill>
                <a:latin typeface="Microsoft JhengHei"/>
                <a:ea typeface="Microsoft JhengHei"/>
              </a:rPr>
              <a:t>1,149／10,952筆歷史配對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3886200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222B33"/>
                </a:solidFill>
                <a:latin typeface="Microsoft JhengHei"/>
                <a:ea typeface="Microsoft JhengHei"/>
              </a:rPr>
              <a:t>14天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3849624"/>
            <a:ext cx="2504711" cy="347472"/>
          </a:xfrm>
          <a:prstGeom prst="rect">
            <a:avLst/>
          </a:prstGeom>
          <a:solidFill>
            <a:srgbClr val="315A70"/>
          </a:solidFill>
          <a:ln w="12700">
            <a:solidFill>
              <a:srgbClr val="31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5319" y="3831336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1">
                <a:solidFill>
                  <a:srgbClr val="315A70"/>
                </a:solidFill>
                <a:latin typeface="Microsoft JhengHei"/>
                <a:ea typeface="Microsoft JhengHei"/>
              </a:rPr>
              <a:t>16.6%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27939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606B74"/>
                </a:solidFill>
                <a:latin typeface="Microsoft JhengHei"/>
                <a:ea typeface="Microsoft JhengHei"/>
              </a:rPr>
              <a:t>1,773／10,680筆歷史配對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值得測試短期方向，但市場均價不能直接當成同店真值。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相關研究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相關研究：菜價預測已有方法，場景各不相同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[R01–R02] 論文摘要；[H17] 同課程Team 17原PDF第7–12頁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19072"/>
          <a:ext cx="1090879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4"/>
                <a:gridCol w="4809744"/>
                <a:gridCol w="3209544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前作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已知做法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值得本案對照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陳泯宏，2024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批發歷史價格；比較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ARIMA、ETS、TDNN、LSTM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模型選擇與方向評估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李岱鑫，2015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公開資料＋中盤商私人紀錄；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預測下一週批發價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新增私人資料是否有幫助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Team 17，2025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同課程簡報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市場＋氣象資料；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各品項LightGBM、未來五天價格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資料、預測期限與應用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本案聚焦：現場零售報價、固定7／14天，以及同店到期驗證。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相關研究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相關服務：把已知功能與待驗證問題分開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[R05–R06] 已查核官網／商店文案；未安裝實測，文案不是效果證據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64792"/>
          <a:ext cx="10908792" cy="3831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187952"/>
              </a:tblGrid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服務／本案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已見功能或設計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證據界線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白菜即時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菜價趨勢預測、零售換算文案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實際模型、固定期限與效果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依現有證據尚未確認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農產分析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輸入購買價、單位換算、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當日行情比對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其他未載明功能維持未知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TW01 本案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今天店價＋選填上週價；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估計t+7／t+14相對變化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公開市場已有測試；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同店A／B效果尚未驗證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差異要靠任務與驗證說清楚，不靠「別人都沒有」來成立。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研究目標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研究問題與三項亮點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[P1] 本案RQ1–RQ3與貢獻；已完成與待驗證分開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755648"/>
            <a:ext cx="10168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222B33"/>
                </a:solidFill>
                <a:latin typeface="Microsoft JhengHei"/>
                <a:ea typeface="Microsoft JhengHei"/>
              </a:rPr>
              <a:t>固定期限的公開評估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231136"/>
            <a:ext cx="10168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606B74"/>
                </a:solidFill>
                <a:latin typeface="Microsoft JhengHei"/>
                <a:ea typeface="Microsoft JhengHei"/>
              </a:rPr>
              <a:t>比較7／14天方向預測與簡單基線。　已有公開測試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990088"/>
            <a:ext cx="10168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222B33"/>
                </a:solidFill>
                <a:latin typeface="Microsoft JhengHei"/>
                <a:ea typeface="Microsoft JhengHei"/>
              </a:rPr>
              <a:t>今天價與上週價的A／B設計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465576"/>
            <a:ext cx="10168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606B74"/>
                </a:solidFill>
                <a:latin typeface="Microsoft JhengHei"/>
                <a:ea typeface="Microsoft JhengHei"/>
              </a:rPr>
              <a:t>沒有上週價仍可用；新增資訊是否有幫助。　待同店驗證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4224528"/>
            <a:ext cx="10168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222B33"/>
                </a:solidFill>
                <a:latin typeface="Microsoft JhengHei"/>
                <a:ea typeface="Microsoft JhengHei"/>
              </a:rPr>
              <a:t>看得懂、查得到來源的結果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700016"/>
            <a:ext cx="10168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606B74"/>
                </a:solidFill>
                <a:latin typeface="Microsoft JhengHei"/>
                <a:ea typeface="Microsoft JhengHei"/>
              </a:rPr>
              <a:t>同時呈現期限、價格估計與資料範圍。　原型已展示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提出的方法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系統架構：輸入、計算與資料各有角色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[A1] 依本機原型整理；編號是功能索引，不是固定執行順序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100" b="1">
                <a:solidFill>
                  <a:srgbClr val="222B33"/>
                </a:solidFill>
                <a:latin typeface="Microsoft JhengHei"/>
                <a:ea typeface="Microsoft JhengHei"/>
              </a:rPr>
              <a:t>① 使用者與手機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品項、報價、日期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74519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100" b="1">
                <a:solidFill>
                  <a:srgbClr val="222B33"/>
                </a:solidFill>
                <a:latin typeface="Microsoft JhengHei"/>
                <a:ea typeface="Microsoft JhengHei"/>
              </a:rPr>
              <a:t>② 查詢處理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確認條件與單位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1874519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103120"/>
            <a:ext cx="2697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100" b="1">
                <a:solidFill>
                  <a:srgbClr val="222B33"/>
                </a:solidFill>
                <a:latin typeface="Microsoft JhengHei"/>
                <a:ea typeface="Microsoft JhengHei"/>
              </a:rPr>
              <a:t>③ 菜價計算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60603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模型推論＋A／B換算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526280"/>
            <a:ext cx="2697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100" b="1">
                <a:solidFill>
                  <a:srgbClr val="222B33"/>
                </a:solidFill>
                <a:latin typeface="Microsoft JhengHei"/>
                <a:ea typeface="Microsoft JhengHei"/>
              </a:rPr>
              <a:t>④ 公開歷史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市場均價・唯讀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429768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526280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100" b="1">
                <a:solidFill>
                  <a:srgbClr val="222B33"/>
                </a:solidFill>
                <a:latin typeface="Microsoft JhengHei"/>
                <a:ea typeface="Microsoft JhengHei"/>
              </a:rPr>
              <a:t>⑤ 預測紀錄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自願保存・獨立儲存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11880" y="2267712"/>
            <a:ext cx="1005840" cy="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0" y="1856231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提交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611880" y="2880360"/>
            <a:ext cx="1005840" cy="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39312" y="3182112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回傳結果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43800" y="2267712"/>
            <a:ext cx="914400" cy="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62088" y="1856231"/>
            <a:ext cx="8778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計算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543800" y="2880360"/>
            <a:ext cx="914400" cy="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43800" y="31821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回傳預測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30384" y="3108960"/>
            <a:ext cx="0" cy="118872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85832" y="3557016"/>
            <a:ext cx="1097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400" b="0">
                <a:solidFill>
                  <a:srgbClr val="315A70"/>
                </a:solidFill>
                <a:latin typeface="Microsoft JhengHei"/>
                <a:ea typeface="Microsoft JhengHei"/>
              </a:rPr>
              <a:t>讀取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68112" y="3108960"/>
            <a:ext cx="0" cy="118872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62272" y="356616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選擇時</a:t>
            </a:r>
          </a:p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保存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675120" y="3108960"/>
            <a:ext cx="0" cy="1188720"/>
          </a:xfrm>
          <a:prstGeom prst="line">
            <a:avLst/>
          </a:prstGeom>
          <a:ln w="2032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12280" y="3566160"/>
            <a:ext cx="777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300" b="0">
                <a:solidFill>
                  <a:srgbClr val="315A70"/>
                </a:solidFill>
                <a:latin typeface="Microsoft JhengHei"/>
                <a:ea typeface="Microsoft JhengHei"/>
              </a:rPr>
              <a:t>查閱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4348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公開歷史與私人紀錄分開，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不把個人報價寫進公開資料。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本頁呈現目前原型；語言模型整合與外網部署屬後續工作。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資料與方法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資料來源與整理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[D1] 臺中市政府公開資料快照；[D2] 既有資料品質與標籤統計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37360"/>
          <a:ext cx="10835640" cy="384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728"/>
                <a:gridCol w="8439912"/>
              </a:tblGrid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本案使用範圍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來源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臺中市公有零售市場每日訪價均價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期間／市場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2025-10-04～2026-10-02；排除停用市場後13市場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品項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甘藍、青江白菜、絲瓜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單位／缺值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元／台斤；0代表無報價，不是零元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整理方式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統一日期與單位；建立同市場、同品項的到期配對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一筆資料代表市場訪價均價，不代表其中某一家店的成交價。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資料與方法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預測目標：從報價日算起的7／14天變化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[M1] 固定日曆期限；±5%含邊界為持平；下方數值均為教學例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600" b="1">
                <a:solidFill>
                  <a:srgbClr val="315A70"/>
                </a:solidFill>
                <a:latin typeface="Microsoft JhengHei"/>
                <a:ea typeface="Microsoft JhengHei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800" b="0">
                <a:solidFill>
                  <a:srgbClr val="222B33"/>
                </a:solidFill>
                <a:latin typeface="Microsoft JhengHei"/>
                <a:ea typeface="Microsoft JhengHei"/>
              </a:rPr>
              <a:t>本次報價日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600" b="1">
                <a:solidFill>
                  <a:srgbClr val="315A70"/>
                </a:solidFill>
                <a:latin typeface="Microsoft JhengHei"/>
                <a:ea typeface="Microsoft JhengHei"/>
              </a:rPr>
              <a:t>t＋7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30428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800" b="0">
                <a:solidFill>
                  <a:srgbClr val="222B33"/>
                </a:solidFill>
                <a:latin typeface="Microsoft JhengHei"/>
                <a:ea typeface="Microsoft JhengHei"/>
              </a:rPr>
              <a:t>7個日曆日後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737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600" b="1">
                <a:solidFill>
                  <a:srgbClr val="315A70"/>
                </a:solidFill>
                <a:latin typeface="Microsoft JhengHei"/>
                <a:ea typeface="Microsoft JhengHei"/>
              </a:rPr>
              <a:t>t＋14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30428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800" b="0">
                <a:solidFill>
                  <a:srgbClr val="222B33"/>
                </a:solidFill>
                <a:latin typeface="Microsoft JhengHei"/>
                <a:ea typeface="Microsoft JhengHei"/>
              </a:rPr>
              <a:t>14個日曆日後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926080"/>
            <a:ext cx="8549640" cy="0"/>
          </a:xfrm>
          <a:prstGeom prst="line">
            <a:avLst/>
          </a:prstGeom>
          <a:ln w="22860">
            <a:solidFill>
              <a:srgbClr val="315A7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2807208"/>
            <a:ext cx="0" cy="246888"/>
          </a:xfrm>
          <a:prstGeom prst="line">
            <a:avLst/>
          </a:prstGeom>
          <a:ln w="2286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2807208"/>
            <a:ext cx="0" cy="246888"/>
          </a:xfrm>
          <a:prstGeom prst="line">
            <a:avLst/>
          </a:prstGeom>
          <a:ln w="2286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2807208"/>
            <a:ext cx="0" cy="246888"/>
          </a:xfrm>
          <a:prstGeom prst="line">
            <a:avLst/>
          </a:prstGeom>
          <a:ln w="2286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438144"/>
            <a:ext cx="103784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rgbClr val="222B33"/>
                </a:solidFill>
                <a:latin typeface="Microsoft JhengHei"/>
                <a:ea typeface="Microsoft JhengHei"/>
              </a:rPr>
              <a:t>相對變化 ＝（到期價格 − 當日價格）÷ 當日價格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4297680"/>
          <a:ext cx="10515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152"/>
                <a:gridCol w="3511296"/>
                <a:gridCol w="3502152"/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下跌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持平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上漲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小於 −5%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介於 −5% 與 ＋5%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1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大於 ＋5%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8680" y="5797296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0">
                <a:solidFill>
                  <a:srgbClr val="315A70"/>
                </a:solidFill>
                <a:latin typeface="Microsoft JhengHei"/>
                <a:ea typeface="Microsoft JhengHei"/>
              </a:rPr>
              <a:t>例如市場均價40→43元：＋7.5%，上漲；40→42元：＋5%，持平。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核心方法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A模式：沒有上週價，也能查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[M2] 現價錨定方法；本頁全部數值為教學假設，非真店實驗或模型fixture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28216"/>
            <a:ext cx="10698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222B33"/>
                </a:solidFill>
                <a:latin typeface="Microsoft JhengHei"/>
                <a:ea typeface="Microsoft JhengHei"/>
              </a:rPr>
              <a:t>今天店價 ×（1＋模型估計的相對變化）＝ 到期價格估計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10698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0">
                <a:solidFill>
                  <a:srgbClr val="222B33"/>
                </a:solidFill>
                <a:latin typeface="Microsoft JhengHei"/>
                <a:ea typeface="Microsoft JhengHei"/>
              </a:rPr>
              <a:t>假設今天32元／台斤；模型的7天估計為 −4.1%。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700" b="1">
                <a:solidFill>
                  <a:srgbClr val="315A70"/>
                </a:solidFill>
                <a:latin typeface="Microsoft JhengHei"/>
                <a:ea typeface="Microsoft JhengHei"/>
              </a:rPr>
              <a:t>32 ×（1 − 0.041）＝ 30.688 ≈ 30.7元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" y="4224528"/>
          <a:ext cx="10689336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743200"/>
                <a:gridCol w="2093976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期限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假設相對變化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價格估計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方向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7天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−4.1%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30.7元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持平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14天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−0.9%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31.7元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持平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" y="6044184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1">
                <a:solidFill>
                  <a:srgbClr val="315A70"/>
                </a:solidFill>
                <a:latin typeface="Microsoft JhengHei"/>
                <a:ea typeface="Microsoft JhengHei"/>
              </a:rPr>
              <a:t>輸入現價改變金額尺度，不會讓方向預測自動變準。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核心方法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B模式：多一筆上週價，是否真的有幫助？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[M2] α＝0.3為固定實驗規則；本頁所有價格與變化數字均為教學假設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1676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222B33"/>
                </a:solidFill>
                <a:latin typeface="Microsoft JhengHei"/>
                <a:ea typeface="Microsoft JhengHei"/>
              </a:rPr>
              <a:t>在A的基礎上，加上「店價變化與公開市場變化的差」。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06040"/>
          <a:ext cx="55778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教學條件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數值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今天／上週店價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32元／28元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店價週變化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32 ÷ 28 − 1 ≈ 14.29%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公開同期變化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假設為 ＋1%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39712" y="2596896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1">
                <a:solidFill>
                  <a:srgbClr val="315A70"/>
                </a:solidFill>
                <a:latin typeface="Microsoft JhengHei"/>
                <a:ea typeface="Microsoft JhengHei"/>
              </a:rPr>
              <a:t>B的7天調整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3346704"/>
            <a:ext cx="438912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222B33"/>
                </a:solidFill>
                <a:latin typeface="Microsoft JhengHei"/>
                <a:ea typeface="Microsoft JhengHei"/>
              </a:rPr>
              <a:t>−4.1%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222B33"/>
                </a:solidFill>
                <a:latin typeface="Microsoft JhengHei"/>
                <a:ea typeface="Microsoft JhengHei"/>
              </a:rPr>
              <a:t>＋0.3 ×（14.29% − 1%）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222B33"/>
                </a:solidFill>
                <a:latin typeface="Microsoft JhengHei"/>
                <a:ea typeface="Microsoft JhengHei"/>
              </a:rPr>
              <a:t>≈ −0.11%　仍為持平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4910328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同店、同品項、同規格；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700" b="0">
                <a:solidFill>
                  <a:srgbClr val="606B74"/>
                </a:solidFill>
                <a:latin typeface="Microsoft JhengHei"/>
                <a:ea typeface="Microsoft JhengHei"/>
              </a:rPr>
              <a:t>日期與單位需可比較。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係數0.3不是學得的效果；B是否更好，要等同店到期價驗證。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評估設計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先用驗證集選模型，再看封存測試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[M3, S1] 保留樣本涵蓋期；成熟清除規則及四段範圍見附錄A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783080"/>
            <a:ext cx="343814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315A70"/>
                </a:solidFill>
                <a:latin typeface="Microsoft JhengHei"/>
                <a:ea typeface="Microsoft JhengHei"/>
              </a:rPr>
              <a:t>訓練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8096" y="2423160"/>
            <a:ext cx="3438144" cy="0"/>
          </a:xfrm>
          <a:prstGeom prst="line">
            <a:avLst/>
          </a:prstGeom>
          <a:ln w="762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375" y="274320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2025-10-04～2026-05-08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1783080"/>
            <a:ext cx="343814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315A70"/>
                </a:solidFill>
                <a:latin typeface="Microsoft JhengHei"/>
                <a:ea typeface="Microsoft JhengHei"/>
              </a:rPr>
              <a:t>驗證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52544" y="2423160"/>
            <a:ext cx="3438144" cy="0"/>
          </a:xfrm>
          <a:prstGeom prst="line">
            <a:avLst/>
          </a:prstGeom>
          <a:ln w="762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06824" y="274320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2026-05-10～2026-07-21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1783080"/>
            <a:ext cx="343814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315A70"/>
                </a:solidFill>
                <a:latin typeface="Microsoft JhengHei"/>
                <a:ea typeface="Microsoft JhengHei"/>
              </a:rPr>
              <a:t>測試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36992" y="2423160"/>
            <a:ext cx="3438144" cy="0"/>
          </a:xfrm>
          <a:prstGeom prst="line">
            <a:avLst/>
          </a:prstGeom>
          <a:ln w="762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91271" y="274320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2026-07-22～2026-10-02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3685032"/>
          <a:ext cx="10607040" cy="1837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572000"/>
                <a:gridCol w="3794760"/>
              </a:tblGrid>
              <a:tr h="521207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期限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選定模型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選擇方式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7天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隨機森林（RF，300棵樹）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依驗證集macro-F1選型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14天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梯度提升（HGB，200輪）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再以同一封存測試列比較基線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特徵只使用當下可見的歷史；邊界樣本依到期可見性清除。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初步結果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結果：方向分數仍未超過動量基線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[E1] 封存測試：7天 n＝2,085；14天 n＝1,859；不同方法使用相同測試列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4650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222B33"/>
                </a:solidFill>
                <a:latin typeface="Microsoft JhengHei"/>
                <a:ea typeface="Microsoft JhengHei"/>
              </a:rPr>
              <a:t>方向macro-F1：上漲、持平、下跌分別計分後平均，越高越好。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2688336"/>
          <a:ext cx="10689336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136"/>
                <a:gridCol w="2514600"/>
                <a:gridCol w="2514600"/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方法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7天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14天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不變價：全部預測持平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0.3092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0.2954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動量：過去同長度變化延續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0.4226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0.4306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本案選定模型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0.4218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0.4169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本案高於全持平，但兩個期限都未勝動量；不能只挑較弱基線。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初步結果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結果限制：價格誤差與上漲事件仍需改善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[E1] 相對變化MAE越小越好；數值不是元，也不是準確率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64792"/>
          <a:ext cx="1060704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2514600"/>
                <a:gridCol w="2514600"/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相對變化MAE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7天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14天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不變價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0.0436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0.0748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本案選定模型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0.0664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3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0.0983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" y="4370832"/>
            <a:ext cx="1060704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222B33"/>
                </a:solidFill>
                <a:latin typeface="Microsoft JhengHei"/>
                <a:ea typeface="Microsoft JhengHei"/>
              </a:rPr>
              <a:t>7天實際上漲158筆，模型抓到16筆（召回10.1%）。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08406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606B74"/>
                </a:solidFill>
                <a:latin typeface="Microsoft JhengHei"/>
                <a:ea typeface="Microsoft JhengHei"/>
              </a:rPr>
              <a:t>方向與金額各有不足；目前不宜把它當成可靠的上漲警報。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先呈現能力邊界，再用真店與後續實驗判斷是否值得使用。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原型展示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介面示例：同一期限，對照A與B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[U1] 2026-10-03本機原型，放大上方7天結果區；非本次即時查詢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14</a:t>
            </a:r>
          </a:p>
        </p:txBody>
      </p:sp>
      <p:pic>
        <p:nvPicPr>
          <p:cNvPr id="7" name="Picture 6" descr="ui_7da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299194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92040" y="1920240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1" y="1920240"/>
            <a:ext cx="5779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1">
                <a:solidFill>
                  <a:srgbClr val="222B33"/>
                </a:solidFill>
                <a:latin typeface="Microsoft JhengHei"/>
                <a:ea typeface="Microsoft JhengHei"/>
              </a:rPr>
              <a:t>先看期限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3831" y="2395728"/>
            <a:ext cx="5779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606B74"/>
                </a:solidFill>
                <a:latin typeface="Microsoft JhengHei"/>
                <a:ea typeface="Microsoft JhengHei"/>
              </a:rPr>
              <a:t>確認這組結果是7天，另一組才是14天。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182112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1" y="3182112"/>
            <a:ext cx="5779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1">
                <a:solidFill>
                  <a:srgbClr val="222B33"/>
                </a:solidFill>
                <a:latin typeface="Microsoft JhengHei"/>
                <a:ea typeface="Microsoft JhengHei"/>
              </a:rPr>
              <a:t>再看A／B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3657600"/>
            <a:ext cx="5779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606B74"/>
                </a:solidFill>
                <a:latin typeface="Microsoft JhengHei"/>
                <a:ea typeface="Microsoft JhengHei"/>
              </a:rPr>
              <a:t>對照不使用與使用上週資訊的結果。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443983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831" y="4443983"/>
            <a:ext cx="57790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1">
                <a:solidFill>
                  <a:srgbClr val="222B33"/>
                </a:solidFill>
                <a:latin typeface="Microsoft JhengHei"/>
                <a:ea typeface="Microsoft JhengHei"/>
              </a:rPr>
              <a:t>最後讀範圍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3831" y="4919471"/>
            <a:ext cx="57790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606B74"/>
                </a:solidFill>
                <a:latin typeface="Microsoft JhengHei"/>
                <a:ea typeface="Microsoft JhengHei"/>
              </a:rPr>
              <a:t>市場均價、店價估計與實驗性提醒分開。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驗證計畫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下一步：用對應證據回答三個問題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[P1, C1] 設計藍圖與規格管理：design.md＋OpenSpec；實際日期待定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73936"/>
          <a:ext cx="10744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184"/>
                <a:gridCol w="6035040"/>
                <a:gridCol w="2093976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要驗證什麼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需要的證據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目前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同店A／B增益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先保存A與B；7／14天後取得同店同規格價格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待執行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低負擔與理解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輸入時間、錯誤率；能否說明期限與資料範圍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待執行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服務是否可用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後端整合、外網手機查詢及端到端驗證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暫緩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94360" y="5641848"/>
            <a:ext cx="457200" cy="0"/>
          </a:xfrm>
          <a:prstGeom prst="line">
            <a:avLst/>
          </a:prstGeom>
          <a:ln w="25400">
            <a:solidFill>
              <a:srgbClr val="315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5797296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1">
                <a:solidFill>
                  <a:srgbClr val="315A70"/>
                </a:solidFill>
                <a:latin typeface="Microsoft JhengHei"/>
                <a:ea typeface="Microsoft JhengHei"/>
              </a:rPr>
              <a:t>公開測試、同店驗證與系統可用性，是三種不同的證據。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結論與後續工作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TW01｜研究提案與初步成果｜主講結束；後附計算、數據與引用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56231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856231"/>
            <a:ext cx="10168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rgbClr val="222B33"/>
                </a:solidFill>
                <a:latin typeface="Microsoft JhengHei"/>
                <a:ea typeface="Microsoft JhengHei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331720"/>
            <a:ext cx="10168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0">
                <a:solidFill>
                  <a:srgbClr val="606B74"/>
                </a:solidFill>
                <a:latin typeface="Microsoft JhengHei"/>
                <a:ea typeface="Microsoft JhengHei"/>
              </a:rPr>
              <a:t>公開市場7／14天評估，以及現場報價的A／B原型。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127248"/>
            <a:ext cx="10168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rgbClr val="222B33"/>
                </a:solidFill>
                <a:latin typeface="Microsoft JhengHei"/>
                <a:ea typeface="Microsoft JhengHei"/>
              </a:rPr>
              <a:t>目前限制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602736"/>
            <a:ext cx="10168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0">
                <a:solidFill>
                  <a:srgbClr val="606B74"/>
                </a:solidFill>
                <a:latin typeface="Microsoft JhengHei"/>
                <a:ea typeface="Microsoft JhengHei"/>
              </a:rPr>
              <a:t>方向未勝動量、誤差未勝不變價；同店效果尚未驗證。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98264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1">
                <a:solidFill>
                  <a:srgbClr val="315A70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4398264"/>
            <a:ext cx="10168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rgbClr val="222B33"/>
                </a:solidFill>
                <a:latin typeface="Microsoft JhengHei"/>
                <a:ea typeface="Microsoft JhengHei"/>
              </a:rPr>
              <a:t>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873752"/>
            <a:ext cx="10168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200" b="0">
                <a:solidFill>
                  <a:srgbClr val="606B74"/>
                </a:solidFill>
                <a:latin typeface="Microsoft JhengHei"/>
                <a:ea typeface="Microsoft JhengHei"/>
              </a:rPr>
              <a:t>取得同店到期真值，判斷上週資訊能否帶來實際增益。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附錄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附錄A｜資料口徑與成熟清除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[D2, S1] 既有標籤與切分資料；本版唯讀使用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00784"/>
          <a:ext cx="10725912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5358384"/>
                <a:gridCol w="2121408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邊界／期限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清除起算日範圍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列數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訓練→驗證／7天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2026-05-02～2026-05-09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242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訓練→驗證／14天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2026-04-25～2026-05-09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453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驗證→測試／7天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2026-07-14～2026-07-21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243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驗證→測試／14天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2026-07-07～2026-07-21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448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" y="4773168"/>
            <a:ext cx="10652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0">
                <a:solidFill>
                  <a:srgbClr val="222B33"/>
                </a:solidFill>
                <a:latin typeface="Microsoft JhengHei"/>
                <a:ea typeface="Microsoft JhengHei"/>
              </a:rPr>
              <a:t>成熟日＝t＋h＋1；四段合計1,386列，聯集30個起算日。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0">
                <a:solidFill>
                  <a:srgbClr val="222B33"/>
                </a:solidFill>
                <a:latin typeface="Microsoft JhengHei"/>
                <a:ea typeface="Microsoft JhengHei"/>
              </a:rPr>
              <a:t>7天有效標籤10,952筆；14天10,680筆，與測試樣本數不同。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附錄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附錄B｜A／B公式與可比條件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[M1–M2] 使用固定α＝0.3，不宣稱係數已學得或已驗證有增益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764792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rgbClr val="222B33"/>
                </a:solidFill>
                <a:latin typeface="Microsoft JhengHei"/>
                <a:ea typeface="Microsoft JhengHei"/>
              </a:rPr>
              <a:t>A：p̂(t＋h) ＝ p(t) ×（1＋r̂_h）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69464"/>
            <a:ext cx="1060704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400" b="1">
                <a:solidFill>
                  <a:srgbClr val="222B33"/>
                </a:solidFill>
                <a:latin typeface="Microsoft JhengHei"/>
                <a:ea typeface="Microsoft JhengHei"/>
              </a:rPr>
              <a:t>B：r_B ＝ r_A ＋ 0.3 ×（Δ店價 − Δ公開同期）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520440"/>
            <a:ext cx="1060704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0">
                <a:solidFill>
                  <a:srgbClr val="222B33"/>
                </a:solidFill>
                <a:latin typeface="Microsoft JhengHei"/>
                <a:ea typeface="Microsoft JhengHei"/>
              </a:rPr>
              <a:t>p(t)：今天店價；r_A：公開模型的相對變化估計。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0">
                <a:solidFill>
                  <a:srgbClr val="222B33"/>
                </a:solidFill>
                <a:latin typeface="Microsoft JhengHei"/>
                <a:ea typeface="Microsoft JhengHei"/>
              </a:rPr>
              <a:t>Δ店價：今天價 ÷ 上週價 − 1；公開同期使用可比期間。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900" b="0">
                <a:solidFill>
                  <a:srgbClr val="222B33"/>
                </a:solidFill>
                <a:latin typeface="Microsoft JhengHei"/>
                <a:ea typeface="Microsoft JhengHei"/>
              </a:rPr>
              <a:t>上週價要有實際日期，並確認同店、同品項、同規格與單位。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120640"/>
            <a:ext cx="106070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315A70"/>
                </a:solidFill>
                <a:latin typeface="Microsoft JhengHei"/>
                <a:ea typeface="Microsoft JhengHei"/>
              </a:rPr>
              <a:t>p＞0時，[p(1＋r̂)−p]／p＝r̂。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315A70"/>
                </a:solidFill>
                <a:latin typeface="Microsoft JhengHei"/>
                <a:ea typeface="Microsoft JhengHei"/>
              </a:rPr>
              <a:t>同一分類器下，A錨定只改金額；缺少可比上週資訊則回A。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附錄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附錄C｜分品項方向結果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[E2] 公開市場封存測試；不以事件比例解釋分數差異的因果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38528"/>
          <a:ext cx="10607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3931920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品項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7天：n／macro-F1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14天：n／macro-F1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甘藍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613／0.3203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544／0.3072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青江白菜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703／0.3916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628／0.3732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絲瓜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769／0.4474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687／0.4493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8" y="5486400"/>
            <a:ext cx="1060704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100" b="0">
                <a:solidFill>
                  <a:srgbClr val="315A70"/>
                </a:solidFill>
                <a:latin typeface="Microsoft JhengHei"/>
                <a:ea typeface="Microsoft JhengHei"/>
              </a:rPr>
              <a:t>分數隨品項不同；此處只描述結果，不推定差異原因。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附錄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附錄D｜7天混淆矩陣：上漲容易漏掉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[E1] 列為實際類別，欄為模型預測類別；n＝2,085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56816"/>
          <a:ext cx="6812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00200"/>
                <a:gridCol w="1600200"/>
                <a:gridCol w="1600200"/>
              </a:tblGrid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實際＼預測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下跌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持平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上漲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下跌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57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64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持平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234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1523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46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上漲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43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99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24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16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204825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300" b="1">
                <a:solidFill>
                  <a:srgbClr val="315A70"/>
                </a:solidFill>
                <a:latin typeface="Microsoft JhengHei"/>
                <a:ea typeface="Microsoft JhengHei"/>
              </a:rPr>
              <a:t>上漲召回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61488"/>
            <a:ext cx="32004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700" b="1">
                <a:solidFill>
                  <a:srgbClr val="222B33"/>
                </a:solidFill>
                <a:latin typeface="Microsoft JhengHei"/>
                <a:ea typeface="Microsoft JhengHei"/>
              </a:rPr>
              <a:t>16 ÷ 158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700" b="1">
                <a:solidFill>
                  <a:srgbClr val="222B33"/>
                </a:solidFill>
                <a:latin typeface="Microsoft JhengHei"/>
                <a:ea typeface="Microsoft JhengHei"/>
              </a:rPr>
              <a:t>≈ 10.1%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24528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222B33"/>
                </a:solidFill>
                <a:latin typeface="Microsoft JhengHei"/>
                <a:ea typeface="Microsoft JhengHei"/>
              </a:rPr>
              <a:t>142筆實際上漲，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000" b="0">
                <a:solidFill>
                  <a:srgbClr val="222B33"/>
                </a:solidFill>
                <a:latin typeface="Microsoft JhengHei"/>
                <a:ea typeface="Microsoft JhengHei"/>
              </a:rPr>
              <a:t>沒有被報為上漲。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附錄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附錄E｜主要引用與同課程前作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完整網址、讀取層級與本機定位見本頁備註及同版SOURCES.md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73352"/>
            <a:ext cx="10680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1">
                <a:solidFill>
                  <a:srgbClr val="315A70"/>
                </a:solidFill>
                <a:latin typeface="Microsoft JhengHei"/>
                <a:ea typeface="Microsoft JhengHei"/>
              </a:rPr>
              <a:t>[R01] 陳泯宏，2024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1068019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國產大宗蔬菜價格預測模型之比較。臺大碩論；已讀摘要。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10680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1">
                <a:solidFill>
                  <a:srgbClr val="315A70"/>
                </a:solidFill>
                <a:latin typeface="Microsoft JhengHei"/>
                <a:ea typeface="Microsoft JhengHei"/>
              </a:rPr>
              <a:t>[R02] 李岱鑫，2015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98648"/>
            <a:ext cx="1068019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高雄果菜運銷公司高麗菜批發價格預測之研究—蒐集私有資料的價值。已讀摘要。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10712"/>
            <a:ext cx="10680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1">
                <a:solidFill>
                  <a:srgbClr val="315A70"/>
                </a:solidFill>
                <a:latin typeface="Microsoft JhengHei"/>
                <a:ea typeface="Microsoft JhengHei"/>
              </a:rPr>
              <a:t>[H17] 同課程Team 17，2025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67328"/>
            <a:ext cx="1068019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蔬果價格預測：LightGBM的最佳採購指南。15頁PDF；僅作者簡報。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79392"/>
            <a:ext cx="10680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1">
                <a:solidFill>
                  <a:srgbClr val="315A70"/>
                </a:solidFill>
                <a:latin typeface="Microsoft JhengHei"/>
                <a:ea typeface="Microsoft JhengHei"/>
              </a:rPr>
              <a:t>[R05] 白菜即時；[R06] 農產分析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36007"/>
            <a:ext cx="1068019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官網／商店功能文案；未安裝實測。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48072"/>
            <a:ext cx="10680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1">
                <a:solidFill>
                  <a:srgbClr val="315A70"/>
                </a:solidFill>
                <a:latin typeface="Microsoft JhengHei"/>
                <a:ea typeface="Microsoft JhengHei"/>
              </a:rPr>
              <a:t>[D1] 臺中市政府公開資料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504688"/>
            <a:ext cx="1068019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600" b="0">
                <a:solidFill>
                  <a:srgbClr val="222B33"/>
                </a:solidFill>
                <a:latin typeface="Microsoft JhengHei"/>
                <a:ea typeface="Microsoft JhengHei"/>
              </a:rPr>
              <a:t>公有零售市場每日蔬果價格表。data.gov.tw／84539。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315A70"/>
                </a:solidFill>
                <a:latin typeface="Microsoft JhengHei"/>
                <a:ea typeface="Microsoft JhengHei"/>
              </a:rPr>
              <a:t>附錄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2900" b="1">
                <a:solidFill>
                  <a:srgbClr val="222B33"/>
                </a:solidFill>
                <a:latin typeface="Microsoft JhengHei"/>
                <a:ea typeface="Microsoft JhengHei"/>
              </a:rPr>
              <a:t>附錄F｜實作與交付索引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CDD4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606B74"/>
                </a:solidFill>
                <a:latin typeface="Microsoft JhengHei"/>
                <a:ea typeface="Microsoft JhengHei"/>
              </a:rPr>
              <a:t>[A1, P1, C1] 技術定位供備詢；不把工具安裝或文件存在等同全案驗收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00800"/>
            <a:ext cx="603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606B74"/>
                </a:solidFill>
                <a:latin typeface="Microsoft JhengHei"/>
                <a:ea typeface="Microsoft JhengHe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764792"/>
          <a:ext cx="10689336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120640"/>
                <a:gridCol w="2734056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部分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定位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315A70"/>
                          </a:solidFill>
                          <a:latin typeface="Microsoft JhengHei"/>
                          <a:ea typeface="Microsoft JhengHei"/>
                        </a:rPr>
                        <a:t>狀態</a:t>
                      </a:r>
                    </a:p>
                  </a:txBody>
                  <a:tcPr marL="118872" marR="118872" marT="82296" marB="82296" anchor="ctr">
                    <a:solidFill>
                      <a:srgbClr val="F1F4F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查詢與計算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/forecast、/agent/query；ForecastEngine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本機原型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選擇性保存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/records；private/predictions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完整重播未驗收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資料與模型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public_history；RF／HGB模型包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既有封存工件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研究管理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design.md＋OpenSpec；來源與評估紀錄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22B33"/>
                          </a:solidFill>
                          <a:latin typeface="Microsoft JhengHei"/>
                          <a:ea typeface="Microsoft JhengHei"/>
                        </a:rPr>
                        <a:t>文件與規格已建</a:t>
                      </a:r>
                    </a:p>
                  </a:txBody>
                  <a:tcPr marL="118872" marR="118872" marT="82296" marB="82296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DD4D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" y="5559552"/>
            <a:ext cx="1056132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0">
                <a:solidFill>
                  <a:srgbClr val="606B74"/>
                </a:solidFill>
                <a:latin typeface="Microsoft JhengHei"/>
                <a:ea typeface="Microsoft JhengHei"/>
              </a:rPr>
              <a:t>GLM／Qwen是語言模型後端；Hermes是流程框架。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800" b="0">
                <a:solidFill>
                  <a:srgbClr val="606B74"/>
                </a:solidFill>
                <a:latin typeface="Microsoft JhengHei"/>
                <a:ea typeface="Microsoft JhengHei"/>
              </a:rPr>
              <a:t>語言模型整合、外網部署與正式發布：仍屬後續工作。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TW01 現場菜價7／14天預測與分析代理人</dc:title>
  <dc:subject>研究提案與初步成果；簡潔研究版v4</dc:subject>
  <dc:creator>TW01 project</dc:creator>
  <cp:keywords/>
  <dc:description>generated using python-pptx</dc:description>
  <cp:lastModifiedBy>Steve Canny</cp:lastModifiedBy>
  <cp:revision>1</cp:revision>
  <dcterms:created xsi:type="dcterms:W3CDTF">2026-10-04T00:00:00Z</dcterms:created>
  <dcterms:modified xsi:type="dcterms:W3CDTF">2026-10-04T00:00:00Z</dcterms:modified>
  <cp:category/>
</cp:coreProperties>
</file>