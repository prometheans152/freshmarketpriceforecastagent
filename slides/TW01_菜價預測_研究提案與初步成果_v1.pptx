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開場30秒：我們做的是『站在蔬果行，輸入今天標價，告訴你7天、14天後會不會更貴』。這是提案加初步成果：公開模型已封存測試，同店增益是明列的待驗證問題。（約40秒）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重點：不是『AI很熱門』，是菜價真的會動、且消費者工具只看當日。右下誠實揭露多數不變——這決定了我們後面一定要放不變價基線。極端例給聽眾具體感。（約60秒）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三個RQ分別對應三貢獻。強調RQ2明講零證據——我們不假裝已驗證。（約45秒）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過半篇幅直接談菜價。三類各自『已做到』講清楚——特別是農產分析已讓人輸入自己買的價格、大數據平台已做零售預測，我們的差異在組合而非元件。（約50秒）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差異是組合不是元件。強調『查核範圍內未見』的用語紀律，以及不跨資料排名。（約45秒）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顏色即狀態：綠=已驗證、黃=待驗證、灰=初步。誠實是這頁的重點。（約45秒）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資料小但乾淨：無斷點、鍵唯一。強調 0=無價 與 均價≠店價 這兩個誠實邊界，後面方法都由此展開。（約40秒）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一張圖講清楚哪些是真的（上排與歷史）、哪些暫緩（黃底虛線）。誠實邊界直接畫在圖上。（約40秒）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切分圖+三個防洩漏要點。成熟清除是聽眾最容易忽略的細節，點一句即可。（約40秒）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左公式右例子。錨定不變向是本題最重要的誠實推論：輸入現價不會讓方向變準——這正是B存在的理由，而B的增益必須等真店到期驗證。數字例一步一步念。（約70秒）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公平比較的重點是基線強、指標抗不平衡、選型時序凍結。未做的事直接列。（約35秒）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本頁是提案的核心誠實：模型有訊號（勝持平）但不是最強（未勝動量）、點誤差輸給不變價。這些負向結果定義了後續工作。（約60秒）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一張真截圖勝過描述。右側把限制講清楚：rule模式、未外網、後端暫緩。（約35秒）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把驗證狀態當作交付的一部分來管理。OpenSpec 是真的有初始化與validate證據的。（約35秒）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收尾30秒：強調貢獻是框架與誠實，不是神奇準確率。指向附錄應付提問。（約35秒）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備詢用：品項差異來自事件頻率不同。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備詢用：為何macro-F1輸動量——up召回低是主因之一。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完整書目與讀取層級在REFERENCES.md。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備詢用：公式一頁看懂；課程要求對照也誠實標Agent暫緩。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微軟正黑體"/>
              </a:rPr>
              <a:t>現場菜價 7／14 天預測與分析代理人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346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C9D8E8"/>
                </a:solidFill>
                <a:latin typeface="微軟正黑體"/>
              </a:rPr>
              <a:t>TW01・研究提案與初步成果（ midterm proposal + preliminary results）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49039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微軟正黑體"/>
              </a:rPr>
              <a:t>摘要：消費者在蔬果行輸入今天單品價格（上週同店價選填），系統以臺中公開市場均價模型</a:t>
            </a:r>
          </a:p>
          <a:p>
            <a:pPr algn="ctr"/>
            <a:r>
              <a:rPr sz="1500" b="0">
                <a:solidFill>
                  <a:srgbClr val="FFFFFF"/>
                </a:solidFill>
                <a:latin typeface="微軟正黑體"/>
              </a:rPr>
              <a:t>預測 7／14 天方向並以現價錨定估計店價；A/B 輸入增益以真店到期價驗證（待驗證）。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FB8D0"/>
                </a:solidFill>
                <a:latin typeface="微軟正黑體"/>
              </a:rPr>
              <a:t>組員：待填（≤4人）｜日期：2026-10-04｜課程：AIoT 應用與資料分析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微軟正黑體"/>
              </a:rPr>
              <a:t>為什麼值得做：菜價會動，但消費者看不到未來</a:t>
            </a:r>
          </a:p>
          <a:p>
            <a:r>
              <a:rPr sz="1300">
                <a:solidFill>
                  <a:srgbClr val="C9D8E8"/>
                </a:solidFill>
                <a:latin typeface="微軟正黑體"/>
              </a:rPr>
              <a:t>動機（證據均可查）</a:t>
            </a:r>
          </a:p>
        </p:txBody>
      </p:sp>
      <p:pic>
        <p:nvPicPr>
          <p:cNvPr id="3" name="Picture 2" descr="volat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6035040" cy="31263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75120" y="1188720"/>
            <a:ext cx="51206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F3B5C"/>
                </a:solidFill>
                <a:latin typeface="微軟正黑體"/>
              </a:rPr>
              <a:t>▪ 臺中 13 市場逐日均價開放資料存在（data.gov.tw 84539），但官方消費端工具只給「當日」行情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3B5C"/>
                </a:solidFill>
                <a:latin typeface="微軟正黑體"/>
              </a:rPr>
              <a:t>▪ 官方研究：颱風後菜價第 1 週可漲 10–40%（農糧署《農政與農情》219期）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3B5C"/>
                </a:solidFill>
                <a:latin typeface="微軟正黑體"/>
              </a:rPr>
              <a:t>▪ 本案資料實算（2025-10～2026-10，n=10,952）：7 天變動逾 ±5% 佔 10.6%；14 天 16.7%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595959"/>
                </a:solidFill>
                <a:latin typeface="微軟正黑體"/>
              </a:rPr>
              <a:t>– 極端例：合作市場甘藍 2026-07-02 45→07-09 85 元/台斤（7 天 +88.9%）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595959"/>
                </a:solidFill>
                <a:latin typeface="微軟正黑體"/>
              </a:rPr>
              <a:t>– 同時誠實：7 天完全同價佔 86.7–92.8% → 「多數不變、少數大變」，所以必須跟強基線比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微軟正黑體"/>
              </a:rPr>
              <a:t>來源：data/processed/features_labels.parquet 實算；農糧署219期；data.gov.tw/84539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微軟正黑體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微軟正黑體"/>
              </a:rPr>
              <a:t>研究問題</a:t>
            </a:r>
          </a:p>
          <a:p>
            <a:r>
              <a:rPr sz="1300">
                <a:solidFill>
                  <a:srgbClr val="C9D8E8"/>
                </a:solidFill>
                <a:latin typeface="微軟正黑體"/>
              </a:rPr>
              <a:t>RQ1–RQ3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1124712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3B5C"/>
                </a:solidFill>
                <a:latin typeface="微軟正黑體"/>
              </a:rPr>
              <a:t>▪ RQ1｜公開市場固定期限方向預測：臺中均價的 7/14 天方向預測，相對「不變價」與「動量」兩個強基線表現如何？（macro-F1）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3B5C"/>
                </a:solidFill>
                <a:latin typeface="微軟正黑體"/>
              </a:rPr>
              <a:t>▪ RQ2｜現價／上週價增益：A（今天店價錨定）與 B（＋選填上週同店價）的增益，應如何以真實同店 7/14 天到期價驗證？——目前零證據，屬待驗證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3B5C"/>
                </a:solidFill>
                <a:latin typeface="微軟正黑體"/>
              </a:rPr>
              <a:t>▪ RQ3｜低負擔與可追溯：單品兩欄輸入、附來源與驗證狀態的呈現，能否兼顧可用與可核對？（人因評估為未來工作）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595959"/>
                </a:solidFill>
                <a:latin typeface="微軟正黑體"/>
              </a:rPr>
              <a:t>– 使用情境：高麗菜今天 32 元/台斤 → 7 天後（10-11）、14 天後（10-18）相對今天是漲、平還是跌？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4206240"/>
            <a:ext cx="3657600" cy="173736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2F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F3B5C"/>
                </a:solidFill>
                <a:latin typeface="微軟正黑體"/>
              </a:rPr>
              <a:t>RQ1 → C1</a:t>
            </a:r>
          </a:p>
          <a:p>
            <a:pPr algn="ctr"/>
            <a:r>
              <a:rPr sz="1500">
                <a:solidFill>
                  <a:srgbClr val="1F3B5C"/>
                </a:solidFill>
                <a:latin typeface="微軟正黑體"/>
              </a:rPr>
              <a:t>固定期限評估基準</a:t>
            </a:r>
          </a:p>
          <a:p>
            <a:pPr algn="ctr"/>
            <a:r>
              <a:rPr sz="1300" b="1">
                <a:solidFill>
                  <a:srgbClr val="2F7D32"/>
                </a:solidFill>
                <a:latin typeface="微軟正黑體"/>
              </a:rPr>
              <a:t>證據狀態：已驗證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4206240"/>
            <a:ext cx="3657600" cy="173736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C07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F3B5C"/>
                </a:solidFill>
                <a:latin typeface="微軟正黑體"/>
              </a:rPr>
              <a:t>RQ2 → C2</a:t>
            </a:r>
          </a:p>
          <a:p>
            <a:pPr algn="ctr"/>
            <a:r>
              <a:rPr sz="1500">
                <a:solidFill>
                  <a:srgbClr val="1F3B5C"/>
                </a:solidFill>
                <a:latin typeface="微軟正黑體"/>
              </a:rPr>
              <a:t>A/B 輸入增益</a:t>
            </a:r>
          </a:p>
          <a:p>
            <a:pPr algn="ctr"/>
            <a:r>
              <a:rPr sz="1300" b="1">
                <a:solidFill>
                  <a:srgbClr val="C07A00"/>
                </a:solidFill>
                <a:latin typeface="微軟正黑體"/>
              </a:rPr>
              <a:t>證據狀態：待驗證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75320" y="4206240"/>
            <a:ext cx="3657600" cy="173736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F3B5C"/>
                </a:solidFill>
                <a:latin typeface="微軟正黑體"/>
              </a:rPr>
              <a:t>RQ3 → C3</a:t>
            </a:r>
          </a:p>
          <a:p>
            <a:pPr algn="ctr"/>
            <a:r>
              <a:rPr sz="1500">
                <a:solidFill>
                  <a:srgbClr val="1F3B5C"/>
                </a:solidFill>
                <a:latin typeface="微軟正黑體"/>
              </a:rPr>
              <a:t>低負擔可追溯呈現</a:t>
            </a:r>
          </a:p>
          <a:p>
            <a:pPr algn="ctr"/>
            <a:r>
              <a:rPr sz="1300" b="1">
                <a:solidFill>
                  <a:srgbClr val="595959"/>
                </a:solidFill>
                <a:latin typeface="微軟正黑體"/>
              </a:rPr>
              <a:t>證據狀態：初步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微軟正黑體"/>
              </a:rPr>
              <a:t>來源：docs/RESEARCH_MOTIVATION.md（RQ 定義與證據）；狀態對應 docs/CONTRIBUTIONS.md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微軟正黑體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微軟正黑體"/>
              </a:rPr>
              <a:t>相關研究：三類前作</a:t>
            </a:r>
          </a:p>
          <a:p>
            <a:r>
              <a:rPr sz="1300">
                <a:solidFill>
                  <a:srgbClr val="C9D8E8"/>
                </a:solidFill>
                <a:latin typeface="微軟正黑體"/>
              </a:rPr>
              <a:t>分類討論（詳矩陣與引用清單）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124712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8412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軟正黑體"/>
                        </a:rPr>
                        <a:t>類別</a:t>
                      </a:r>
                    </a:p>
                  </a:txBody>
                  <a:tcPr>
                    <a:solidFill>
                      <a:srgbClr val="1F3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軟正黑體"/>
                        </a:rPr>
                        <a:t>代表前作</a:t>
                      </a:r>
                    </a:p>
                  </a:txBody>
                  <a:tcPr>
                    <a:solidFill>
                      <a:srgbClr val="1F3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軟正黑體"/>
                        </a:rPr>
                        <a:t>已做到</a:t>
                      </a:r>
                    </a:p>
                  </a:txBody>
                  <a:tcPr>
                    <a:solidFill>
                      <a:srgbClr val="1F3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軟正黑體"/>
                        </a:rPr>
                        <a:t>未做／未知</a:t>
                      </a:r>
                    </a:p>
                  </a:txBody>
                  <a:tcPr>
                    <a:solidFill>
                      <a:srgbClr val="1F3B5C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3B5C"/>
                          </a:solidFill>
                          <a:latin typeface="微軟正黑體"/>
                        </a:rPr>
                        <a:t>批發・市場價格預測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3B5C"/>
                          </a:solidFill>
                          <a:latin typeface="微軟正黑體"/>
                        </a:rPr>
                        <a:t>陳泯宏2024[R01]；陳澤維[R09]；林沂臻2017[R03]；NCHU 2025[R07]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3B5C"/>
                          </a:solidFill>
                          <a:latin typeface="微軟正黑體"/>
                        </a:rPr>
                        <a:t>批發/市場均價預測（ARIMA/LSTM/HHT/氣候探勘）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3B5C"/>
                          </a:solidFill>
                          <a:latin typeface="微軟正黑體"/>
                        </a:rPr>
                        <a:t>消費者店價輸入；固定7/14日曆期限；同店到期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3B5C"/>
                          </a:solidFill>
                          <a:latin typeface="微軟正黑體"/>
                        </a:rPr>
                        <a:t>零售・私人資料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3B5C"/>
                          </a:solidFill>
                          <a:latin typeface="微軟正黑體"/>
                        </a:rPr>
                        <a:t>農業大數據平台2018[R04]；李岱鑫2015[R02]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3B5C"/>
                          </a:solidFill>
                          <a:latin typeface="微軟正黑體"/>
                        </a:rPr>
                        <a:t>電子發票零售估計預測；私人vs公開資料誤差比較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3B5C"/>
                          </a:solidFill>
                          <a:latin typeface="微軟正黑體"/>
                        </a:rPr>
                        <a:t>消費者輸入；單店真值到期驗證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3B5C"/>
                          </a:solidFill>
                          <a:latin typeface="微軟正黑體"/>
                        </a:rPr>
                        <a:t>消費者行情工具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3B5C"/>
                          </a:solidFill>
                          <a:latin typeface="微軟正黑體"/>
                        </a:rPr>
                        <a:t>白菜即時[R05]；農產分析[R06]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3B5C"/>
                          </a:solidFill>
                          <a:latin typeface="微軟正黑體"/>
                        </a:rPr>
                        <a:t>AI走勢預測（不透明）；輸入自己買的價格比對當日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3B5C"/>
                          </a:solidFill>
                          <a:latin typeface="微軟正黑體"/>
                        </a:rPr>
                        <a:t>未來期限預測[R06]；店價輸入與指標公開[R05]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3B5C"/>
                          </a:solidFill>
                          <a:latin typeface="微軟正黑體"/>
                        </a:rPr>
                        <a:t>官方動向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3B5C"/>
                          </a:solidFill>
                          <a:latin typeface="微軟正黑體"/>
                        </a:rPr>
                        <a:t>農糧署115年度徵件[R10]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3B5C"/>
                          </a:solidFill>
                          <a:latin typeface="微軟正黑體"/>
                        </a:rPr>
                        <a:t>生成式AI＋預測ML＋農產價格獲政策重視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3B5C"/>
                          </a:solidFill>
                          <a:latin typeface="微軟正黑體"/>
                        </a:rPr>
                        <a:t>生產端決策；非消費者情境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644652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微軟正黑體"/>
              </a:rPr>
              <a:t>來源：docs/RELATED_WORK_MATRIX.md（10件；UNKNOWN 12處如實標）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微軟正黑體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微軟正黑體"/>
              </a:rPr>
              <a:t>與最接近前作的差異</a:t>
            </a:r>
          </a:p>
          <a:p>
            <a:r>
              <a:rPr sz="1300">
                <a:solidFill>
                  <a:srgbClr val="C9D8E8"/>
                </a:solidFill>
                <a:latin typeface="微軟正黑體"/>
              </a:rPr>
              <a:t>查核範圍內未見相同組合；不宣稱全球首次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097280"/>
          <a:ext cx="114300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  <a:gridCol w="2286000"/>
              </a:tblGrid>
              <a:tr h="768096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軟正黑體"/>
                        </a:rPr>
                        <a:t>維度</a:t>
                      </a:r>
                    </a:p>
                  </a:txBody>
                  <a:tcPr>
                    <a:solidFill>
                      <a:srgbClr val="1F3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軟正黑體"/>
                        </a:rPr>
                        <a:t>李岱鑫2015 [R02]</a:t>
                      </a:r>
                    </a:p>
                  </a:txBody>
                  <a:tcPr>
                    <a:solidFill>
                      <a:srgbClr val="1F3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軟正黑體"/>
                        </a:rPr>
                        <a:t>大數據平台2018 [R04]</a:t>
                      </a:r>
                    </a:p>
                  </a:txBody>
                  <a:tcPr>
                    <a:solidFill>
                      <a:srgbClr val="1F3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軟正黑體"/>
                        </a:rPr>
                        <a:t>農產分析 [R06]</a:t>
                      </a:r>
                    </a:p>
                  </a:txBody>
                  <a:tcPr>
                    <a:solidFill>
                      <a:srgbClr val="1F3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軟正黑體"/>
                        </a:rPr>
                        <a:t>本案 TW01</a:t>
                      </a:r>
                    </a:p>
                  </a:txBody>
                  <a:tcPr>
                    <a:solidFill>
                      <a:srgbClr val="1F3B5C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3B5C"/>
                          </a:solidFill>
                          <a:latin typeface="微軟正黑體"/>
                        </a:rPr>
                        <a:t>輸入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3B5C"/>
                          </a:solidFill>
                          <a:latin typeface="微軟正黑體"/>
                        </a:rPr>
                        <a:t>中盤商私人紀錄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3B5C"/>
                          </a:solidFill>
                          <a:latin typeface="微軟正黑體"/>
                        </a:rPr>
                        <a:t>電子發票（無輸入）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3B5C"/>
                          </a:solidFill>
                          <a:latin typeface="微軟正黑體"/>
                        </a:rPr>
                        <a:t>使用者買價（比對當日）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3B5C"/>
                          </a:solidFill>
                          <a:latin typeface="微軟正黑體"/>
                        </a:rPr>
                        <a:t>今天店價＋選填上週同店價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3B5C"/>
                          </a:solidFill>
                          <a:latin typeface="微軟正黑體"/>
                        </a:rPr>
                        <a:t>目標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3B5C"/>
                          </a:solidFill>
                          <a:latin typeface="微軟正黑體"/>
                        </a:rPr>
                        <a:t>下一週批發價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3B5C"/>
                          </a:solidFill>
                          <a:latin typeface="微軟正黑體"/>
                        </a:rPr>
                        <a:t>零售通路段估計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3B5C"/>
                          </a:solidFill>
                          <a:latin typeface="微軟正黑體"/>
                        </a:rPr>
                        <a:t>當日價差合理性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3B5C"/>
                          </a:solidFill>
                          <a:latin typeface="微軟正黑體"/>
                        </a:rPr>
                        <a:t>從今天起 t+7/t+14 方向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3B5C"/>
                          </a:solidFill>
                          <a:latin typeface="微軟正黑體"/>
                        </a:rPr>
                        <a:t>真值驗證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3B5C"/>
                          </a:solidFill>
                          <a:latin typeface="微軟正黑體"/>
                        </a:rPr>
                        <a:t>有（批發誤差比較）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3B5C"/>
                          </a:solidFill>
                          <a:latin typeface="微軟正黑體"/>
                        </a:rPr>
                        <a:t>網路查價對照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3B5C"/>
                          </a:solidFill>
                          <a:latin typeface="微軟正黑體"/>
                        </a:rPr>
                        <a:t>無（當日）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3B5C"/>
                          </a:solidFill>
                          <a:latin typeface="微軟正黑體"/>
                        </a:rPr>
                        <a:t>同店到期價（設計中，T16）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3B5C"/>
                          </a:solidFill>
                          <a:latin typeface="微軟正黑體"/>
                        </a:rPr>
                        <a:t>主要限制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3B5C"/>
                          </a:solidFill>
                          <a:latin typeface="微軟正黑體"/>
                        </a:rPr>
                        <a:t>批發；通路資料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3B5C"/>
                          </a:solidFill>
                          <a:latin typeface="微軟正黑體"/>
                        </a:rPr>
                        <a:t>均價估計非店價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3B5C"/>
                          </a:solidFill>
                          <a:latin typeface="微軟正黑體"/>
                        </a:rPr>
                        <a:t>不預測未來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3B5C"/>
                          </a:solidFill>
                          <a:latin typeface="微軟正黑體"/>
                        </a:rPr>
                        <a:t>B 增益零證據；僅一年臺中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1206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95959"/>
                </a:solidFill>
                <a:latin typeface="微軟正黑體"/>
              </a:rPr>
              <a:t>三組缺口（詳 RESEARCH_GAP.md）：①今天店價基準＋固定日曆期限的評估基準 ②消費者選填上週價＋同店到期配對驗證 ③低輸入負擔＋主張狀態可追溯的介面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微軟正黑體"/>
              </a:rPr>
              <a:t>來源：docs/RESEARCH_GAP.md；未重現前作協議，不跨資料比分數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微軟正黑體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微軟正黑體"/>
              </a:rPr>
              <a:t>三項貢獻與證據狀態</a:t>
            </a:r>
          </a:p>
          <a:p>
            <a:r>
              <a:rPr sz="1300">
                <a:solidFill>
                  <a:srgbClr val="C9D8E8"/>
                </a:solidFill>
                <a:latin typeface="微軟正黑體"/>
              </a:rPr>
              <a:t>如實標示：已驗證／待驗證／初步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3657600" cy="502920"/>
          </a:xfrm>
          <a:prstGeom prst="roundRect">
            <a:avLst/>
          </a:prstGeom>
          <a:solidFill>
            <a:srgbClr val="2F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</a:rPr>
              <a:t>C1（已驗證）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3657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3B5C"/>
                </a:solidFill>
                <a:latin typeface="微軟正黑體"/>
              </a:rPr>
              <a:t>固定 7/14 日曆期限的臺中零售</a:t>
            </a:r>
          </a:p>
          <a:p>
            <a:pPr algn="l"/>
            <a:r>
              <a:rPr sz="1400" b="0">
                <a:solidFill>
                  <a:srgbClr val="1F3B5C"/>
                </a:solidFill>
                <a:latin typeface="微軟正黑體"/>
              </a:rPr>
              <a:t>方向預測評估基準：強基線、</a:t>
            </a:r>
          </a:p>
          <a:p>
            <a:pPr algn="l"/>
            <a:r>
              <a:rPr sz="1400" b="0">
                <a:solidFill>
                  <a:srgbClr val="1F3B5C"/>
                </a:solidFill>
                <a:latin typeface="微軟正黑體"/>
              </a:rPr>
              <a:t>時間切分、封存測試，含負向結果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188720"/>
            <a:ext cx="3657600" cy="502920"/>
          </a:xfrm>
          <a:prstGeom prst="roundRect">
            <a:avLst/>
          </a:prstGeom>
          <a:solidFill>
            <a:srgbClr val="C0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</a:rPr>
              <a:t>C2（待驗證）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43400" y="1828800"/>
            <a:ext cx="3657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3B5C"/>
                </a:solidFill>
                <a:latin typeface="微軟正黑體"/>
              </a:rPr>
              <a:t>現價／上週價 A/B 輸入與真店</a:t>
            </a:r>
          </a:p>
          <a:p>
            <a:pPr algn="l"/>
            <a:r>
              <a:rPr sz="1400" b="0">
                <a:solidFill>
                  <a:srgbClr val="1F3B5C"/>
                </a:solidFill>
                <a:latin typeface="微軟正黑體"/>
              </a:rPr>
              <a:t>到期配對驗證協議；B 目前為</a:t>
            </a:r>
          </a:p>
          <a:p>
            <a:pPr algn="l"/>
            <a:r>
              <a:rPr sz="1400" b="0">
                <a:solidFill>
                  <a:srgbClr val="1F3B5C"/>
                </a:solidFill>
                <a:latin typeface="微軟正黑體"/>
              </a:rPr>
              <a:t>α=0.3 固定實驗規則（未訓練）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188720"/>
            <a:ext cx="3657600" cy="502920"/>
          </a:xfrm>
          <a:prstGeom prst="round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</a:rPr>
              <a:t>C3（初步）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828800"/>
            <a:ext cx="3657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3B5C"/>
                </a:solidFill>
                <a:latin typeface="微軟正黑體"/>
              </a:rPr>
              <a:t>主張狀態可追溯的消費者端流程</a:t>
            </a:r>
          </a:p>
          <a:p>
            <a:pPr algn="l"/>
            <a:r>
              <a:rPr sz="1400" b="0">
                <a:solidFill>
                  <a:srgbClr val="1F3B5C"/>
                </a:solidFill>
                <a:latin typeface="微軟正黑體"/>
              </a:rPr>
              <a:t>與原型：來源、期限、驗證範圍</a:t>
            </a:r>
          </a:p>
          <a:p>
            <a:pPr algn="l"/>
            <a:r>
              <a:rPr sz="1400" b="0">
                <a:solidFill>
                  <a:srgbClr val="1F3B5C"/>
                </a:solidFill>
                <a:latin typeface="微軟正黑體"/>
              </a:rPr>
              <a:t>標示貫穿文件與介面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4805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F3B5C"/>
                </a:solidFill>
                <a:latin typeface="微軟正黑體"/>
              </a:rPr>
              <a:t>▪ C1 已有可重現證據：方向 macro-F1 0.4218/0.4169；勝全持平（0.3092/0.2954）、未勝動量（0.4226/0.4306）；點 MAE 未勝不變價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595959"/>
                </a:solidFill>
                <a:latin typeface="微軟正黑體"/>
              </a:rPr>
              <a:t>– C2 的增益是本提案明列的待驗證問題；C3 的使用者研究未執行——兩者皆不寫成已證實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微軟正黑體"/>
              </a:rPr>
              <a:t>來源：docs/CONTRIBUTIONS.md；outputs/evaluation/public/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微軟正黑體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微軟正黑體"/>
              </a:rPr>
              <a:t>資料：臺中公有市場每日零售均價</a:t>
            </a:r>
          </a:p>
          <a:p>
            <a:r>
              <a:rPr sz="1300">
                <a:solidFill>
                  <a:srgbClr val="C9D8E8"/>
                </a:solidFill>
                <a:latin typeface="微軟正黑體"/>
              </a:rPr>
              <a:t>資料卡與品質報告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1124712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F3B5C"/>
                </a:solidFill>
                <a:latin typeface="微軟正黑體"/>
              </a:rPr>
              <a:t>▪ 範圍：2025-10-04 ～ 2026-10-02；14 市場（排除「(停)建國」沿用價密集 → 13）；364 觀測日無斷點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3B5C"/>
                </a:solidFill>
                <a:latin typeface="微軟正黑體"/>
              </a:rPr>
              <a:t>▪ 單位：元/台斤（1 台斤 = 0.6 kg）；0 = 當日無價 → 缺測（905 格），不是 0 元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3B5C"/>
                </a:solidFill>
                <a:latin typeface="微軟正黑體"/>
              </a:rPr>
              <a:t>▪ 首版品項：甘藍（平地高麗菜）、青江白菜、絲瓜；無個店 ID——是市場均價，不是某家店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595959"/>
                </a:solidFill>
                <a:latin typeface="微軟正黑體"/>
              </a:rPr>
              <a:t>– 配對：精確日曆日 t+7/t+14，兩端正價才成標籤；候選標籤 7 天 3,615 列／14 天 3,523 列（2026-10-03 實算）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595959"/>
                </a:solidFill>
                <a:latin typeface="微軟正黑體"/>
              </a:rPr>
              <a:t>– 限制：僅一年、單一城市；發布延遲以保守假設 +1 天處理（未實測）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595959"/>
                </a:solidFill>
                <a:latin typeface="微軟正黑體"/>
              </a:rPr>
              <a:t>– 來源：data.gov.tw 84539（政府開放授權1.0）；快照 SHA256 172dffc7…（可稽核）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4343400"/>
            <a:ext cx="2651760" cy="1554480"/>
          </a:xfrm>
          <a:prstGeom prst="roundRect">
            <a:avLst/>
          </a:prstGeom>
          <a:solidFill>
            <a:srgbClr val="F2F6FA"/>
          </a:solidFill>
          <a:ln w="15875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2E75B6"/>
                </a:solidFill>
                <a:latin typeface="微軟正黑體"/>
              </a:rPr>
              <a:t>364</a:t>
            </a:r>
          </a:p>
          <a:p>
            <a:pPr algn="ctr"/>
            <a:r>
              <a:rPr sz="1300">
                <a:solidFill>
                  <a:srgbClr val="1F3B5C"/>
                </a:solidFill>
                <a:latin typeface="微軟正黑體"/>
              </a:rPr>
              <a:t>觀測日無斷點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4343400"/>
            <a:ext cx="2651760" cy="1554480"/>
          </a:xfrm>
          <a:prstGeom prst="roundRect">
            <a:avLst/>
          </a:prstGeom>
          <a:solidFill>
            <a:srgbClr val="F2F6FA"/>
          </a:solidFill>
          <a:ln w="15875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2E75B6"/>
                </a:solidFill>
                <a:latin typeface="微軟正黑體"/>
              </a:rPr>
              <a:t>13</a:t>
            </a:r>
          </a:p>
          <a:p>
            <a:pPr algn="ctr"/>
            <a:r>
              <a:rPr sz="1300">
                <a:solidFill>
                  <a:srgbClr val="1F3B5C"/>
                </a:solidFill>
                <a:latin typeface="微軟正黑體"/>
              </a:rPr>
              <a:t>納入市場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4343400"/>
            <a:ext cx="2651760" cy="1554480"/>
          </a:xfrm>
          <a:prstGeom prst="roundRect">
            <a:avLst/>
          </a:prstGeom>
          <a:solidFill>
            <a:srgbClr val="F2F6FA"/>
          </a:solidFill>
          <a:ln w="15875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2E75B6"/>
                </a:solidFill>
                <a:latin typeface="微軟正黑體"/>
              </a:rPr>
              <a:t>3</a:t>
            </a:r>
          </a:p>
          <a:p>
            <a:pPr algn="ctr"/>
            <a:r>
              <a:rPr sz="1300">
                <a:solidFill>
                  <a:srgbClr val="1F3B5C"/>
                </a:solidFill>
                <a:latin typeface="微軟正黑體"/>
              </a:rPr>
              <a:t>首版品項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0" y="4343400"/>
            <a:ext cx="2651760" cy="1554480"/>
          </a:xfrm>
          <a:prstGeom prst="roundRect">
            <a:avLst/>
          </a:prstGeom>
          <a:solidFill>
            <a:srgbClr val="F2F6FA"/>
          </a:solidFill>
          <a:ln w="15875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2E75B6"/>
                </a:solidFill>
                <a:latin typeface="微軟正黑體"/>
              </a:rPr>
              <a:t>905</a:t>
            </a:r>
          </a:p>
          <a:p>
            <a:pPr algn="ctr"/>
            <a:r>
              <a:rPr sz="1300">
                <a:solidFill>
                  <a:srgbClr val="1F3B5C"/>
                </a:solidFill>
                <a:latin typeface="微軟正黑體"/>
              </a:rPr>
              <a:t>缺測格（0=無價）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微軟正黑體"/>
              </a:rPr>
              <a:t>來源：docs/DATA_CARD.md；docs/DATA_QUALITY_REPORT.md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微軟正黑體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微軟正黑體"/>
              </a:rPr>
              <a:t>系統架構：現況與暫緩</a:t>
            </a:r>
          </a:p>
          <a:p>
            <a:r>
              <a:rPr sz="1300">
                <a:solidFill>
                  <a:srgbClr val="C9D8E8"/>
                </a:solidFill>
                <a:latin typeface="微軟正黑體"/>
              </a:rPr>
              <a:t>實線=已實作並本機驗證；虛線=暫緩（未部署）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2743200" cy="137160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1F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F3B5C"/>
                </a:solidFill>
                <a:latin typeface="微軟正黑體"/>
              </a:rPr>
              <a:t>手機網頁
輸入/A・B並列/保存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0" y="1463040"/>
            <a:ext cx="2743200" cy="137160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1F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F3B5C"/>
                </a:solidFill>
                <a:latin typeface="微軟正黑體"/>
              </a:rPr>
              <a:t>HTTP API
/forecast /agent /records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0" y="1463040"/>
            <a:ext cx="2743200" cy="137160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1F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F3B5C"/>
                </a:solidFill>
                <a:latin typeface="微軟正黑體"/>
              </a:rPr>
              <a:t>ForecastEngine
RF(7天)/HGB(14天) 封存v0.1.0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0" y="3291840"/>
            <a:ext cx="2743200" cy="109728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1F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F3B5C"/>
                </a:solidFill>
                <a:latin typeface="微軟正黑體"/>
              </a:rPr>
              <a:t>公開歷史
public_history（凍結快照）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0" y="3291840"/>
            <a:ext cx="2743200" cy="109728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1F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F3B5C"/>
                </a:solidFill>
                <a:latin typeface="微軟正黑體"/>
              </a:rPr>
              <a:t>規則代理人
（零LLM，展示用）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0" y="4846320"/>
            <a:ext cx="2743200" cy="1005840"/>
          </a:xfrm>
          <a:prstGeom prst="roundRect">
            <a:avLst/>
          </a:prstGeom>
          <a:solidFill>
            <a:srgbClr val="FAF3E3"/>
          </a:solidFill>
          <a:ln w="12700">
            <a:solidFill>
              <a:srgbClr val="59595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F3B5C"/>
                </a:solidFill>
                <a:latin typeface="微軟正黑體"/>
              </a:rPr>
              <a:t>GLM API 後端
金鑰未配置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4846320"/>
            <a:ext cx="2743200" cy="1005840"/>
          </a:xfrm>
          <a:prstGeom prst="roundRect">
            <a:avLst/>
          </a:prstGeom>
          <a:solidFill>
            <a:srgbClr val="FAF3E3"/>
          </a:solidFill>
          <a:ln w="12700">
            <a:solidFill>
              <a:srgbClr val="59595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F3B5C"/>
                </a:solidFill>
                <a:latin typeface="微軟正黑體"/>
              </a:rPr>
              <a:t>Qwen3.8-27B 端點
SERVER 未部署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846320"/>
            <a:ext cx="2743200" cy="1005840"/>
          </a:xfrm>
          <a:prstGeom prst="roundRect">
            <a:avLst/>
          </a:prstGeom>
          <a:solidFill>
            <a:srgbClr val="FAF3E3"/>
          </a:solidFill>
          <a:ln w="12700">
            <a:solidFill>
              <a:srgbClr val="59595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F3B5C"/>
                </a:solidFill>
                <a:latin typeface="微軟正黑體"/>
              </a:rPr>
              <a:t>Hermes 0.19.0 框架
已離線驗證未接真模型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0350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微軟正黑體"/>
              </a:rPr>
              <a:t>虛線區（黃底）＝D44 暫緩：代理人語言模型後端整合未接線，介面以規則模式作展示載體；不宣稱已通過課程全部要求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微軟正黑體"/>
              </a:rPr>
              <a:t>來源：design.md §1；ROUND5_REPAIR_REPORT.md（工程細節）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微軟正黑體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微軟正黑體"/>
              </a:rPr>
              <a:t>7／14 天目標與時間切分</a:t>
            </a:r>
          </a:p>
          <a:p>
            <a:r>
              <a:rPr sz="1300">
                <a:solidFill>
                  <a:srgbClr val="C9D8E8"/>
                </a:solidFill>
                <a:latin typeface="微軟正黑體"/>
              </a:rPr>
              <a:t>防洩漏設計</a:t>
            </a:r>
          </a:p>
        </p:txBody>
      </p:sp>
      <p:pic>
        <p:nvPicPr>
          <p:cNvPr id="3" name="Picture 2" descr="time_sp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8720"/>
            <a:ext cx="9326880" cy="282426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4251960"/>
            <a:ext cx="112471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F3B5C"/>
                </a:solidFill>
                <a:latin typeface="微軟正黑體"/>
              </a:rPr>
              <a:t>▪ 標籤契約（凍結於看測試前）：r_h = m(t+h)/m(t) − 1；|r| ≤ 5% 為持平；缺到期價＝無標籤，不是「未漲」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3B5C"/>
                </a:solidFill>
                <a:latin typeface="微軟正黑體"/>
              </a:rPr>
              <a:t>▪ 同日 13 市場進同區（相關觀測不跨切分稀釋）；14+1 天成熟清除；封存測試一次性（清單 SHA256 4e136574…）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595959"/>
                </a:solidFill>
                <a:latin typeface="微軟正黑體"/>
              </a:rPr>
              <a:t>– 期限永遠從使用者今天 t 起算，不因行情截止日較舊而改起點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微軟正黑體"/>
              </a:rPr>
              <a:t>來源：docs/LABEL_CONTRACT.md；manifest.json splits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微軟正黑體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微軟正黑體"/>
              </a:rPr>
              <a:t>A/B 兩種輸入與一個數字例</a:t>
            </a:r>
          </a:p>
          <a:p>
            <a:r>
              <a:rPr sz="1300">
                <a:solidFill>
                  <a:srgbClr val="C9D8E8"/>
                </a:solidFill>
                <a:latin typeface="微軟正黑體"/>
              </a:rPr>
              <a:t>A=現價錨定；B=上週價實驗規則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F3B5C"/>
                </a:solidFill>
                <a:latin typeface="微軟正黑體"/>
              </a:rPr>
              <a:t>公式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56692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3B5C"/>
                </a:solidFill>
                <a:latin typeface="微軟正黑體"/>
              </a:rPr>
              <a:t>A 店價估計：p̂(t+h) = p(t) × (1 + r̂_h)</a:t>
            </a:r>
          </a:p>
          <a:p>
            <a:pPr algn="l"/>
            <a:r>
              <a:rPr sz="1500" b="0">
                <a:solidFill>
                  <a:srgbClr val="1F3B5C"/>
                </a:solidFill>
                <a:latin typeface="微軟正黑體"/>
              </a:rPr>
              <a:t>B 調整：r_B = r_A + α × (Δ店價7日 − Δ公開同期)</a:t>
            </a:r>
          </a:p>
          <a:p>
            <a:pPr algn="l"/>
            <a:r>
              <a:rPr sz="1500" b="0">
                <a:solidFill>
                  <a:srgbClr val="1F3B5C"/>
                </a:solidFill>
                <a:latin typeface="微軟正黑體"/>
              </a:rPr>
              <a:t>　α = 0.3（開發期固定；未經同店資料訓練）</a:t>
            </a:r>
          </a:p>
          <a:p>
            <a:pPr algn="l"/>
            <a:r>
              <a:rPr sz="1500" b="0">
                <a:solidFill>
                  <a:srgbClr val="1F3B5C"/>
                </a:solidFill>
                <a:latin typeface="微軟正黑體"/>
              </a:rPr>
              <a:t/>
            </a:r>
          </a:p>
          <a:p>
            <a:pPr algn="l"/>
            <a:r>
              <a:rPr sz="1500" b="0">
                <a:solidFill>
                  <a:srgbClr val="1F3B5C"/>
                </a:solidFill>
                <a:latin typeface="微軟正黑體"/>
              </a:rPr>
              <a:t>錨定不變向：p&gt;0 時 A 的方向 ≡ r̂ 的方向</a:t>
            </a:r>
          </a:p>
          <a:p>
            <a:pPr algn="l"/>
            <a:r>
              <a:rPr sz="1500" b="0">
                <a:solidFill>
                  <a:srgbClr val="1F3B5C"/>
                </a:solidFill>
                <a:latin typeface="微軟正黑體"/>
              </a:rPr>
              <a:t>→ 輸入現價只改變金額，不改善方向判斷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02336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F3B5C"/>
                </a:solidFill>
                <a:latin typeface="微軟正黑體"/>
              </a:rPr>
              <a:t>輸入負擔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480560"/>
            <a:ext cx="5669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3B5C"/>
                </a:solidFill>
                <a:latin typeface="微軟正黑體"/>
              </a:rPr>
              <a:t>A：1 個必填（今天價格）＋品項</a:t>
            </a:r>
          </a:p>
          <a:p>
            <a:pPr algn="l"/>
            <a:r>
              <a:rPr sz="1500" b="0">
                <a:solidFill>
                  <a:srgbClr val="1F3B5C"/>
                </a:solidFill>
                <a:latin typeface="微軟正黑體"/>
              </a:rPr>
              <a:t>B：再加 2 個選填（上週價＋實際日期）</a:t>
            </a:r>
          </a:p>
          <a:p>
            <a:pPr algn="l"/>
            <a:r>
              <a:rPr sz="1500" b="0">
                <a:solidFill>
                  <a:srgbClr val="1F3B5C"/>
                </a:solidFill>
                <a:latin typeface="微軟正黑體"/>
              </a:rPr>
              <a:t>上週不可比（7±2天外/換店/換規格/跨品項）→ 自動回 A 並說明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097280"/>
            <a:ext cx="5212080" cy="4846320"/>
          </a:xfrm>
          <a:prstGeom prst="roundRect">
            <a:avLst/>
          </a:prstGeom>
          <a:solidFill>
            <a:srgbClr val="F2F6FA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12801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B5C"/>
                </a:solidFill>
                <a:latin typeface="微軟正黑體"/>
              </a:rPr>
              <a:t>數字例（甘藍，2026-10-04）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17830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3B5C"/>
                </a:solidFill>
                <a:latin typeface="微軟正黑體"/>
              </a:rPr>
              <a:t>輸入：今天 32 元/台斤；上週同店 28 元</a:t>
            </a:r>
          </a:p>
          <a:p>
            <a:pPr algn="l"/>
            <a:r>
              <a:rPr sz="1400" b="0">
                <a:solidFill>
                  <a:srgbClr val="1F3B5C"/>
                </a:solidFill>
                <a:latin typeface="微軟正黑體"/>
              </a:rPr>
              <a:t/>
            </a:r>
          </a:p>
          <a:p>
            <a:pPr algn="l"/>
            <a:r>
              <a:rPr sz="1400" b="0">
                <a:solidFill>
                  <a:srgbClr val="1F3B5C"/>
                </a:solidFill>
                <a:latin typeface="微軟正黑體"/>
              </a:rPr>
              <a:t>模型（市場）：r̂_7 = −4.1% → 持平</a:t>
            </a:r>
          </a:p>
          <a:p>
            <a:pPr algn="l"/>
            <a:r>
              <a:rPr sz="1400" b="0">
                <a:solidFill>
                  <a:srgbClr val="1F3B5C"/>
                </a:solidFill>
                <a:latin typeface="微軟正黑體"/>
              </a:rPr>
              <a:t>　　　　　　r̂_14 = −0.9% → 持平</a:t>
            </a:r>
          </a:p>
          <a:p>
            <a:pPr algn="l"/>
            <a:r>
              <a:rPr sz="1400" b="0">
                <a:solidFill>
                  <a:srgbClr val="1F3B5C"/>
                </a:solidFill>
                <a:latin typeface="微軟正黑體"/>
              </a:rPr>
              <a:t/>
            </a:r>
          </a:p>
          <a:p>
            <a:pPr algn="l"/>
            <a:r>
              <a:rPr sz="1400" b="0">
                <a:solidFill>
                  <a:srgbClr val="1F3B5C"/>
                </a:solidFill>
                <a:latin typeface="微軟正黑體"/>
              </a:rPr>
              <a:t>A：7天後 ≈ 30.7 元、14天後 ≈ 31.7 元</a:t>
            </a:r>
          </a:p>
          <a:p>
            <a:pPr algn="l"/>
            <a:r>
              <a:rPr sz="1400" b="0">
                <a:solidFill>
                  <a:srgbClr val="1F3B5C"/>
                </a:solidFill>
                <a:latin typeface="微軟正黑體"/>
              </a:rPr>
              <a:t/>
            </a:r>
          </a:p>
          <a:p>
            <a:pPr algn="l"/>
            <a:r>
              <a:rPr sz="1400" b="0">
                <a:solidFill>
                  <a:srgbClr val="1F3B5C"/>
                </a:solidFill>
                <a:latin typeface="微軟正黑體"/>
              </a:rPr>
              <a:t>B：店價週變化 = 32/28−1 = +14.3%</a:t>
            </a:r>
          </a:p>
          <a:p>
            <a:pPr algn="l"/>
            <a:r>
              <a:rPr sz="1400" b="0">
                <a:solidFill>
                  <a:srgbClr val="1F3B5C"/>
                </a:solidFill>
                <a:latin typeface="微軟正黑體"/>
              </a:rPr>
              <a:t>　公開同期 +1.0%（例）</a:t>
            </a:r>
          </a:p>
          <a:p>
            <a:pPr algn="l"/>
            <a:r>
              <a:rPr sz="1400" b="0">
                <a:solidFill>
                  <a:srgbClr val="1F3B5C"/>
                </a:solidFill>
                <a:latin typeface="微軟正黑體"/>
              </a:rPr>
              <a:t>　r_B = −4.1% + 0.3×13.3% = −0.1%（仍持平）</a:t>
            </a:r>
          </a:p>
          <a:p>
            <a:pPr algn="l"/>
            <a:r>
              <a:rPr sz="1400" b="0">
                <a:solidFill>
                  <a:srgbClr val="1F3B5C"/>
                </a:solidFill>
                <a:latin typeface="微軟正黑體"/>
              </a:rPr>
              <a:t/>
            </a:r>
          </a:p>
          <a:p>
            <a:pPr algn="l"/>
            <a:r>
              <a:rPr sz="1400" b="0">
                <a:solidFill>
                  <a:srgbClr val="1F3B5C"/>
                </a:solidFill>
                <a:latin typeface="微軟正黑體"/>
              </a:rPr>
              <a:t>回應附：資料截止 10-02、點估計僅供參考、</a:t>
            </a:r>
          </a:p>
          <a:p>
            <a:pPr algn="l"/>
            <a:r>
              <a:rPr sz="1400" b="0">
                <a:solidFill>
                  <a:srgbClr val="1F3B5C"/>
                </a:solidFill>
                <a:latin typeface="微軟正黑體"/>
              </a:rPr>
              <a:t>B 為實驗性規則未經同店驗證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微軟正黑體"/>
              </a:rPr>
              <a:t>來源：fixtures（封存模型輸出）；store_adapter.py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微軟正黑體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微軟正黑體"/>
              </a:rPr>
              <a:t>模型與公平比較設計</a:t>
            </a:r>
          </a:p>
          <a:p>
            <a:r>
              <a:rPr sz="1300">
                <a:solidFill>
                  <a:srgbClr val="C9D8E8"/>
                </a:solidFill>
                <a:latin typeface="微軟正黑體"/>
              </a:rPr>
              <a:t>選型凍結於看測試前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1124712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3B5C"/>
                </a:solidFill>
                <a:latin typeface="微軟正黑體"/>
              </a:rPr>
              <a:t>▪ 候選：Ridge / HistGradientBoosting / RandomForest / 分類樹；以驗證集 macro-F1 選型（凍結後才碰封存測試）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3B5C"/>
                </a:solidFill>
                <a:latin typeface="微軟正黑體"/>
              </a:rPr>
              <a:t>▪ 選定：7 天 RF(300樹)、14 天 HGB(200輪)；seed 42；特徵只用 t−1 前可見資料（價齡/滾動統計/報酬…12 維，無市場 one-hot）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3B5C"/>
                </a:solidFill>
                <a:latin typeface="微軟正黑體"/>
              </a:rPr>
              <a:t>▪ 兩個強基線（與模型同測試列）：不變價（全持平）、動量（過去同長度變化延續）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3B5C"/>
                </a:solidFill>
                <a:latin typeface="微軟正黑體"/>
              </a:rPr>
              <a:t>▪ 指標：方向 macro-F1（持平多數使 accuracy 失真）；r 的 MAE（非元、非準確率）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595959"/>
                </a:solidFill>
                <a:latin typeface="微軟正黑體"/>
              </a:rPr>
              <a:t>– 未做（列為計畫，不補造）：參數敏感度、特徵消融、與近期代表方法在同資料上的直接比較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微軟正黑體"/>
              </a:rPr>
              <a:t>來源：docs/MODEL_SELECTION.md；training_results.json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微軟正黑體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微軟正黑體"/>
              </a:rPr>
              <a:t>封存測試結果（公開市場均價）</a:t>
            </a:r>
          </a:p>
          <a:p>
            <a:r>
              <a:rPr sz="1300">
                <a:solidFill>
                  <a:srgbClr val="C9D8E8"/>
                </a:solidFill>
                <a:latin typeface="微軟正黑體"/>
              </a:rPr>
              <a:t>正向與負向並列——這是誠實的成績單</a:t>
            </a:r>
          </a:p>
        </p:txBody>
      </p:sp>
      <p:pic>
        <p:nvPicPr>
          <p:cNvPr id="3" name="Picture 2" descr="f1_vs_baseli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05840"/>
            <a:ext cx="5212080" cy="2703293"/>
          </a:xfrm>
          <a:prstGeom prst="rect">
            <a:avLst/>
          </a:prstGeom>
        </p:spPr>
      </p:pic>
      <p:pic>
        <p:nvPicPr>
          <p:cNvPr id="4" name="Picture 3" descr="mae_negat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849624"/>
            <a:ext cx="5212080" cy="24362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92240" y="1188720"/>
            <a:ext cx="53035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F3B5C"/>
                </a:solidFill>
                <a:latin typeface="微軟正黑體"/>
              </a:rPr>
              <a:t>▪ 方向 macro-F1：7 天 0.4218、14 天 0.4169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595959"/>
                </a:solidFill>
                <a:latin typeface="微軟正黑體"/>
              </a:rPr>
              <a:t>– 勝全持平基線（0.3092 / 0.2954）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595959"/>
                </a:solidFill>
                <a:latin typeface="微軟正黑體"/>
              </a:rPr>
              <a:t>– 未勝動量基線（0.4226 / 0.4306）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F3B5C"/>
                </a:solidFill>
                <a:latin typeface="微軟正黑體"/>
              </a:rPr>
              <a:t>▪ 點估計 MAE 未勝不變價（0.0664 vs 0.0436；0.0983 vs 0.0748）→ 點估計僅供參考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1F3B5C"/>
                </a:solidFill>
                <a:latin typeface="微軟正黑體"/>
              </a:rPr>
              <a:t>▪ up 召回 ≈10%/9%：模型偏保守報持平，「會漲」警示價值受限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595959"/>
                </a:solidFill>
                <a:latin typeface="微軟正黑體"/>
              </a:rPr>
              <a:t>– 無檢定 → 不寫「顯著」；樣本相關 → 不當獨立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微軟正黑體"/>
              </a:rPr>
              <a:t>來源：public_test_results.json（SHA256 2d28acd2…，可重算）；n=2,085/1,859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微軟正黑體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微軟正黑體"/>
              </a:rPr>
              <a:t>介面現況與限制</a:t>
            </a:r>
          </a:p>
          <a:p>
            <a:r>
              <a:rPr sz="1300">
                <a:solidFill>
                  <a:srgbClr val="C9D8E8"/>
                </a:solidFill>
                <a:latin typeface="微軟正黑體"/>
              </a:rPr>
              <a:t>原型截圖（2026-10-03，本機瀏覽器）</a:t>
            </a:r>
          </a:p>
        </p:txBody>
      </p:sp>
      <p:pic>
        <p:nvPicPr>
          <p:cNvPr id="3" name="Picture 2" descr="ui_ab_mobile_390x8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2281666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931920" y="1371600"/>
            <a:ext cx="7772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F3B5C"/>
                </a:solidFill>
                <a:latin typeface="微軟正黑體"/>
              </a:rPr>
              <a:t>▪ 已實作（本機）：表單/自然語言兩入口、A/B 並列、保存→到期核對、匯出/刪除（request_id 綁定伺服器預測）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3B5C"/>
                </a:solidFill>
                <a:latin typeface="微軟正黑體"/>
              </a:rPr>
              <a:t>▪ 主張狀態進畫面：資料截止日、驗證範圍、B 實驗性警示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595959"/>
                </a:solidFill>
                <a:latin typeface="微軟正黑體"/>
              </a:rPr>
              <a:t>– 限制：本機原型（rule 模式，零 LLM）；未部署外網（T32 HOLD）；代理人後端整合暫緩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595959"/>
                </a:solidFill>
                <a:latin typeface="微軟正黑體"/>
              </a:rPr>
              <a:t>– 截圖為 2026-10-03 原型；與稿件不一致時以文件為準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微軟正黑體"/>
              </a:rPr>
              <a:t>來源：outputs/e2e/ui_ab_mobile_390x844.png；docs/UI_FLOW.md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微軟正黑體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微軟正黑體"/>
              </a:rPr>
              <a:t>分階段驗證計畫與規格管理</a:t>
            </a:r>
          </a:p>
          <a:p>
            <a:r>
              <a:rPr sz="1300">
                <a:solidFill>
                  <a:srgbClr val="C9D8E8"/>
                </a:solidFill>
                <a:latin typeface="微軟正黑體"/>
              </a:rPr>
              <a:t>design.md 藍圖＋OpenSpec 變更管理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43000"/>
          <a:ext cx="112471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6858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微軟正黑體"/>
                        </a:rPr>
                        <a:t>C/RQ</a:t>
                      </a:r>
                    </a:p>
                  </a:txBody>
                  <a:tcPr>
                    <a:solidFill>
                      <a:srgbClr val="1F3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微軟正黑體"/>
                        </a:rPr>
                        <a:t>證據</a:t>
                      </a:r>
                    </a:p>
                  </a:txBody>
                  <a:tcPr>
                    <a:solidFill>
                      <a:srgbClr val="1F3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微軟正黑體"/>
                        </a:rPr>
                        <a:t>狀態</a:t>
                      </a:r>
                    </a:p>
                  </a:txBody>
                  <a:tcPr>
                    <a:solidFill>
                      <a:srgbClr val="1F3B5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3B5C"/>
                          </a:solidFill>
                          <a:latin typeface="微軟正黑體"/>
                        </a:rPr>
                        <a:t>C1 / RQ1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3B5C"/>
                          </a:solidFill>
                          <a:latin typeface="微軟正黑體"/>
                        </a:rPr>
                        <a:t>封存測試 JSON+CSV（可重算）；基線並列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3B5C"/>
                          </a:solidFill>
                          <a:latin typeface="微軟正黑體"/>
                        </a:rPr>
                        <a:t>已驗證（含負向）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3B5C"/>
                          </a:solidFill>
                          <a:latin typeface="微軟正黑體"/>
                        </a:rPr>
                        <a:t>C2 / RQ2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3B5C"/>
                          </a:solidFill>
                          <a:latin typeface="微軟正黑體"/>
                        </a:rPr>
                        <a:t>A/B 協議＋凍結預測保存；真店 7/14 天到期價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3B5C"/>
                          </a:solidFill>
                          <a:latin typeface="微軟正黑體"/>
                        </a:rPr>
                        <a:t>協議就緒／增益待驗證（T16）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3B5C"/>
                          </a:solidFill>
                          <a:latin typeface="微軟正黑體"/>
                        </a:rPr>
                        <a:t>C3 / RQ3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3B5C"/>
                          </a:solidFill>
                          <a:latin typeface="微軟正黑體"/>
                        </a:rPr>
                        <a:t>原型＋主張→來源→狀態追溯鏈（claims_evidence.csv）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3B5C"/>
                          </a:solidFill>
                          <a:latin typeface="微軟正黑體"/>
                        </a:rPr>
                        <a:t>初步／人因未測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4206240"/>
            <a:ext cx="112471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F3B5C"/>
                </a:solidFill>
                <a:latin typeface="微軟正黑體"/>
              </a:rPr>
              <a:t>▪ 規格管理：OpenSpec 1.14.0（局部安裝）；change「prepare-tw01-proposal-package」4/4 artifacts、validate --strict 通過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3B5C"/>
                </a:solidFill>
                <a:latin typeface="微軟正黑體"/>
              </a:rPr>
              <a:t>▪ 時間表（待填日期）：真店收集啟動 → 參數敏感度 → SERVER 部署與外網 → 期末全案驗收（各項單獨驗收，不互相冒充）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微軟正黑體"/>
              </a:rPr>
              <a:t>來源：openspec_cli_evidence.txt；docs/OPENSPEC_WORKFLOW.md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微軟正黑體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微軟正黑體"/>
              </a:rPr>
              <a:t>結論與下一步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1124712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1F3B5C"/>
                </a:solidFill>
                <a:latin typeface="微軟正黑體"/>
              </a:rPr>
              <a:t>▪ 回答 RQ1：固定期限＋強基線的零售評估可行且可重現；模型方向訊號存在（勝持平）但未勝動量、點誤差未勝不變價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F3B5C"/>
                </a:solidFill>
                <a:latin typeface="微軟正黑體"/>
              </a:rPr>
              <a:t>▪ 回答 RQ2/RQ3：協議與原型就緒；增益與人因皆待驗證——這是接下來的工作，不是已完成的成果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F3B5C"/>
                </a:solidFill>
                <a:latin typeface="微軟正黑體"/>
              </a:rPr>
              <a:t>▪ 下一步：①啟動真店到期收集（T16） ②參數敏感度與近期方法同資料比較 ③SERVER 部署與外網評估（T24/T29/T32） ④使用者研究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595959"/>
                </a:solidFill>
                <a:latin typeface="微軟正黑體"/>
              </a:rPr>
              <a:t>– 一句話總結：我們交付的不是「很準的預測」，而是一個誠實可驗證的預測與增益評估框架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F3B5C"/>
                </a:solidFill>
                <a:latin typeface="微軟正黑體"/>
              </a:rPr>
              <a:t>感謝聆聽——歡迎提問（附錄：分品項/混淆矩陣/文獻/公式）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微軟正黑體"/>
              </a:rPr>
              <a:t>來源：docs/PROPOSAL_REPORT.md W–Z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微軟正黑體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微軟正黑體"/>
              </a:rPr>
              <a:t>附錄 A1：分品項 macro-F1</a:t>
            </a:r>
          </a:p>
          <a:p>
            <a:r>
              <a:rPr sz="1300">
                <a:solidFill>
                  <a:srgbClr val="C9D8E8"/>
                </a:solidFill>
                <a:latin typeface="微軟正黑體"/>
              </a:rPr>
              <a:t>公開市場均價測試</a:t>
            </a:r>
          </a:p>
        </p:txBody>
      </p:sp>
      <p:pic>
        <p:nvPicPr>
          <p:cNvPr id="3" name="Picture 2" descr="by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188720"/>
            <a:ext cx="8229600" cy="405750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530352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95959"/>
                </a:solidFill>
                <a:latin typeface="微軟正黑體"/>
              </a:rPr>
              <a:t>甘藍方向事件最少（7天 |r|&gt;5% 僅 6.8%），macro-F1 最低屬預期；絲瓜事件多、訊號較強。樣本數見圖上標註。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微軟正黑體"/>
              </a:rPr>
              <a:t>來源：public_test_results.json by_crop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微軟正黑體"/>
              </a:rPr>
              <a:t>A1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微軟正黑體"/>
              </a:rPr>
              <a:t>附錄 A2：7 天混淆矩陣</a:t>
            </a:r>
          </a:p>
          <a:p>
            <a:r>
              <a:rPr sz="1300">
                <a:solidFill>
                  <a:srgbClr val="C9D8E8"/>
                </a:solidFill>
                <a:latin typeface="微軟正黑體"/>
              </a:rPr>
              <a:t>列=實際；RF</a:t>
            </a:r>
          </a:p>
        </p:txBody>
      </p:sp>
      <p:pic>
        <p:nvPicPr>
          <p:cNvPr id="3" name="Picture 2" descr="confusion_h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4846320" cy="3972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06440" y="1645920"/>
            <a:ext cx="56692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F3B5C"/>
                </a:solidFill>
                <a:latin typeface="微軟正黑體"/>
              </a:rPr>
              <a:t>▪ up 召回 = 16/158 ≈ 10.1%：預測過保守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3B5C"/>
                </a:solidFill>
                <a:latin typeface="微軟正黑體"/>
              </a:rPr>
              <a:t>▪ down 召回 = 57/124 ≈ 46%：跌勢抓得相對好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3B5C"/>
                </a:solidFill>
                <a:latin typeface="微軟正黑體"/>
              </a:rPr>
              <a:t>▪ flat 精確率 0.90：報持平時多半正確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595959"/>
                </a:solidFill>
                <a:latin typeface="微軟正黑體"/>
              </a:rPr>
              <a:t>– 門檻 ±5% 的敏感度分析未執行（計畫）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微軟正黑體"/>
              </a:rPr>
              <a:t>來源：public_test_results.json confusion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微軟正黑體"/>
              </a:rPr>
              <a:t>A2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微軟正黑體"/>
              </a:rPr>
              <a:t>附錄 A3：引用清單（[R01…R10]）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15568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1F3B5C"/>
                </a:solidFill>
                <a:latin typeface="微軟正黑體"/>
              </a:rPr>
              <a:t>▪ R01 陳泯宏(2024) 國產大宗蔬菜價格預測模型之比較. 臺大碩士. (摘要)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F3B5C"/>
                </a:solidFill>
                <a:latin typeface="微軟正黑體"/>
              </a:rPr>
              <a:t>▪ R02 李岱鑫(2015) 高麗菜批發價格預測(公開+私人). 清華碩士. (摘要)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F3B5C"/>
                </a:solidFill>
                <a:latin typeface="微軟正黑體"/>
              </a:rPr>
              <a:t>▪ R03 林沂臻(2017) HHT菜價預測. 中山醫大碩士. (摘要)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F3B5C"/>
                </a:solidFill>
                <a:latin typeface="微軟正黑體"/>
              </a:rPr>
              <a:t>▪ R04 農委會×財政資訊中心(2018) 農業大數據平台零售估計預測. (報導全文)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F3B5C"/>
                </a:solidFill>
                <a:latin typeface="微軟正黑體"/>
              </a:rPr>
              <a:t>▪ R05 flux6lab. 白菜即時 App. (商店文案, 2026-08)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F3B5C"/>
                </a:solidFill>
                <a:latin typeface="微軟正黑體"/>
              </a:rPr>
              <a:t>▪ R06 鹿中創客. 農產分析 App. (商店文案, 2026-07)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F3B5C"/>
                </a:solidFill>
                <a:latin typeface="微軟正黑體"/>
              </a:rPr>
              <a:t>▪ R07 YuehChun(2025) NCHU-Data-Mining-Project. GitHub. (repo)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F3B5C"/>
                </a:solidFill>
                <a:latin typeface="微軟正黑體"/>
              </a:rPr>
              <a:t>▪ R08 洪士育(n.d.) 氣候→蔬菜價格. 北科大. (摘要片段)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F3B5C"/>
                </a:solidFill>
                <a:latin typeface="微軟正黑體"/>
              </a:rPr>
              <a:t>▪ R09 陳澤維(約2017) 臺灣蔬果批發價格預測. 政大碩士. (摘要)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F3B5C"/>
                </a:solidFill>
                <a:latin typeface="微軟正黑體"/>
              </a:rPr>
              <a:t>▪ R10 農糧署(2026) 115年度AI+ML農產價格先導研究徵件. (PDF全文)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微軟正黑體"/>
              </a:rPr>
              <a:t>來源：docs/REFERENCES.md（完整書目與連結）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微軟正黑體"/>
              </a:rPr>
              <a:t>A3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微軟正黑體"/>
              </a:rPr>
              <a:t>附錄 A4：公式彙整與課程要求對照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5577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3B5C"/>
                </a:solidFill>
                <a:latin typeface="微軟正黑體"/>
              </a:rPr>
              <a:t>公式彙整</a:t>
            </a:r>
          </a:p>
          <a:p>
            <a:pPr algn="l"/>
            <a:r>
              <a:rPr sz="1500" b="0">
                <a:solidFill>
                  <a:srgbClr val="1F3B5C"/>
                </a:solidFill>
                <a:latin typeface="微軟正黑體"/>
              </a:rPr>
              <a:t/>
            </a:r>
          </a:p>
          <a:p>
            <a:pPr algn="l"/>
            <a:r>
              <a:rPr sz="1500" b="0">
                <a:solidFill>
                  <a:srgbClr val="1F3B5C"/>
                </a:solidFill>
                <a:latin typeface="微軟正黑體"/>
              </a:rPr>
              <a:t>r_h = m(t+h)/m(t) − 1</a:t>
            </a:r>
          </a:p>
          <a:p>
            <a:pPr algn="l"/>
            <a:r>
              <a:rPr sz="1500" b="0">
                <a:solidFill>
                  <a:srgbClr val="1F3B5C"/>
                </a:solidFill>
                <a:latin typeface="微軟正黑體"/>
              </a:rPr>
              <a:t>方向：|r|≤5% flat；&gt; +5% up；&lt; −5% down</a:t>
            </a:r>
          </a:p>
          <a:p>
            <a:pPr algn="l"/>
            <a:r>
              <a:rPr sz="1500" b="0">
                <a:solidFill>
                  <a:srgbClr val="1F3B5C"/>
                </a:solidFill>
                <a:latin typeface="微軟正黑體"/>
              </a:rPr>
              <a:t/>
            </a:r>
          </a:p>
          <a:p>
            <a:pPr algn="l"/>
            <a:r>
              <a:rPr sz="1500" b="0">
                <a:solidFill>
                  <a:srgbClr val="1F3B5C"/>
                </a:solidFill>
                <a:latin typeface="微軟正黑體"/>
              </a:rPr>
              <a:t>A：p̂(t+h) = p(t)·(1+r̂_h)</a:t>
            </a:r>
          </a:p>
          <a:p>
            <a:pPr algn="l"/>
            <a:r>
              <a:rPr sz="1500" b="0">
                <a:solidFill>
                  <a:srgbClr val="1F3B5C"/>
                </a:solidFill>
                <a:latin typeface="微軟正黑體"/>
              </a:rPr>
              <a:t>B：r_B = r_A + 0.3·(Δ店價7日 − Δ公開同期)</a:t>
            </a:r>
          </a:p>
          <a:p>
            <a:pPr algn="l"/>
            <a:r>
              <a:rPr sz="1500" b="0">
                <a:solidFill>
                  <a:srgbClr val="1F3B5C"/>
                </a:solidFill>
                <a:latin typeface="微軟正黑體"/>
              </a:rPr>
              <a:t>單位：1 台斤 = 0.6 kg；50元/kg ≡ 30元/台斤</a:t>
            </a:r>
          </a:p>
          <a:p>
            <a:pPr algn="l"/>
            <a:r>
              <a:rPr sz="1500" b="0">
                <a:solidFill>
                  <a:srgbClr val="1F3B5C"/>
                </a:solidFill>
                <a:latin typeface="微軟正黑體"/>
              </a:rPr>
              <a:t/>
            </a:r>
          </a:p>
          <a:p>
            <a:pPr algn="l"/>
            <a:r>
              <a:rPr sz="1500" b="0">
                <a:solidFill>
                  <a:srgbClr val="1F3B5C"/>
                </a:solidFill>
                <a:latin typeface="微軟正黑體"/>
              </a:rPr>
              <a:t>錨定不變向（代數）：p&gt;0 ⇒ sign(p·(1+r̂)−p)=sign(r̂)</a:t>
            </a:r>
          </a:p>
          <a:p>
            <a:pPr algn="l"/>
            <a:r>
              <a:rPr sz="1500" b="0">
                <a:solidFill>
                  <a:srgbClr val="1F3B5C"/>
                </a:solidFill>
                <a:latin typeface="微軟正黑體"/>
              </a:rPr>
              <a:t>適用條件：乘法錨定；B 之加法項可改變方向（故待驗證）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309360" y="1097280"/>
          <a:ext cx="53949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/>
                <a:gridCol w="2697480"/>
              </a:tblGrid>
              <a:tr h="5486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課程要求</a:t>
                      </a:r>
                    </a:p>
                  </a:txBody>
                  <a:tcPr>
                    <a:solidFill>
                      <a:srgbClr val="1F3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本案對應</a:t>
                      </a:r>
                    </a:p>
                  </a:txBody>
                  <a:tcPr>
                    <a:solidFill>
                      <a:srgbClr val="1F3B5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B5C"/>
                          </a:solidFill>
                          <a:latin typeface="微軟正黑體"/>
                        </a:rPr>
                        <a:t>一定要有模型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B5C"/>
                          </a:solidFill>
                          <a:latin typeface="微軟正黑體"/>
                        </a:rPr>
                        <a:t>RF/HGB 封存評估（T15）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B5C"/>
                          </a:solidFill>
                          <a:latin typeface="微軟正黑體"/>
                        </a:rPr>
                        <a:t>希望使用 Agent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B5C"/>
                          </a:solidFill>
                          <a:latin typeface="微軟正黑體"/>
                        </a:rPr>
                        <a:t>介面原型＋後端整合暫緩（如實標示）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B5C"/>
                          </a:solidFill>
                          <a:latin typeface="微軟正黑體"/>
                        </a:rPr>
                        <a:t>量化評估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B5C"/>
                          </a:solidFill>
                          <a:latin typeface="微軟正黑體"/>
                        </a:rPr>
                        <a:t>macro-F1/MAE/混淆矩陣＋基線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B5C"/>
                          </a:solidFill>
                          <a:latin typeface="微軟正黑體"/>
                        </a:rPr>
                        <a:t>網路上可操作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B5C"/>
                          </a:solidFill>
                          <a:latin typeface="微軟正黑體"/>
                        </a:rPr>
                        <a:t>本機原型；外網部署待 SERVER（T32）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B5C"/>
                          </a:solidFill>
                          <a:latin typeface="微軟正黑體"/>
                        </a:rPr>
                        <a:t>design.md 藍圖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B5C"/>
                          </a:solidFill>
                          <a:latin typeface="微軟正黑體"/>
                        </a:rPr>
                        <a:t>本次重整＋OpenSpec 管理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微軟正黑體"/>
              </a:rPr>
              <a:t>來源：design.md §3；逐字稿行1710/1711/2832（歷史快照）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微軟正黑體"/>
              </a:rPr>
              <a:t>A4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